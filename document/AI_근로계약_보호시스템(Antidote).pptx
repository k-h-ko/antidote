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5143500" cy="9144000"/>
  <p:embeddedFontLst>
    <p:embeddedFont>
      <p:font typeface="Arial Black"/>
      <p:regular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d9876e4286_2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g3d9876e4286_2_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" name="Google Shape;16;g3d9876e4286_2_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d9876e4286_2_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g3d9876e4286_2_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" name="Google Shape;29;g3d9876e4286_2_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9876e4286_2_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g3d9876e4286_2_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" name="Google Shape;60;g3d9876e4286_2_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9876e4286_2_7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g3d9876e4286_2_7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" name="Google Shape;136;g3d9876e4286_2_7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9876e4286_2_1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g3d9876e4286_2_1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2" name="Google Shape;192;g3d9876e4286_2_1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9876e4286_2_17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g3d9876e4286_2_17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5" name="Google Shape;235;g3d9876e4286_2_17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9876e4286_2_20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g3d9876e4286_2_20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2" name="Google Shape;262;g3d9876e4286_2_20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dbca6cd4d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dbca6cd4d6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dbca6cd4d6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9876e4286_2_2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g3d9876e4286_2_2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0" name="Google Shape;290;g3d9876e4286_2_2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dab779b3f3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g3dab779b3f3_2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dab779b3f3_2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d9876e4286_2_29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5" name="Google Shape;385;g3d9876e4286_2_29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6" name="Google Shape;386;g3d9876e4286_2_29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d98a3f9701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g3d98a3f9701_4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d98a3f9701_4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d98a3f9701_7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g3d98a3f9701_7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g3d98a3f9701_7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d98a3f9701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6" name="Google Shape;706;g3d98a3f9701_2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g3d98a3f9701_2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d9876e4286_2_37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9" name="Google Shape;759;g3d9876e4286_2_37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0" name="Google Shape;760;g3d9876e4286_2_37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d9876e4286_2_39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8" name="Google Shape;778;g3d9876e4286_2_39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9" name="Google Shape;779;g3d9876e4286_2_39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d9876e4286_2_4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5" name="Google Shape;835;g3d9876e4286_2_4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6" name="Google Shape;836;g3d9876e4286_2_4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dab202506a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2" name="Google Shape;862;g3dab202506a_3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g3dab202506a_3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d9876e4286_2_47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3" name="Google Shape;1093;g3d9876e4286_2_47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4" name="Google Shape;1094;g3d9876e4286_2_47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3d9876e4286_2_5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6" name="Google Shape;1146;g3d9876e4286_2_5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7" name="Google Shape;1147;g3d9876e4286_2_5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c0QOcdKhRyAVEeIr21J0WporPjVU0A8O/view" TargetMode="External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5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028090">
              <a:alpha val="18039"/>
            </a:srgbClr>
          </a:solidFill>
          <a:ln cap="flat" cmpd="sng" w="12700">
            <a:solidFill>
              <a:srgbClr val="028090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5"/>
          <p:cNvSpPr/>
          <p:nvPr/>
        </p:nvSpPr>
        <p:spPr>
          <a:xfrm>
            <a:off x="6583680" y="2560320"/>
            <a:ext cx="2926080" cy="2926080"/>
          </a:xfrm>
          <a:prstGeom prst="ellipse">
            <a:avLst/>
          </a:prstGeom>
          <a:solidFill>
            <a:srgbClr val="00A896">
              <a:alpha val="12156"/>
            </a:srgbClr>
          </a:solidFill>
          <a:ln cap="flat" cmpd="sng" w="12700">
            <a:solidFill>
              <a:srgbClr val="00A896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640080" y="100584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 Black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ANTIDOTE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5"/>
          <p:cNvSpPr/>
          <p:nvPr/>
        </p:nvSpPr>
        <p:spPr>
          <a:xfrm>
            <a:off x="640080" y="2011680"/>
            <a:ext cx="2286000" cy="6400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/>
          <p:nvPr/>
        </p:nvSpPr>
        <p:spPr>
          <a:xfrm>
            <a:off x="640080" y="28346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근로계약서 독소조항 탐지 및 수정 제안 AI 서비스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142E56"/>
          </a:solidFill>
          <a:ln cap="flat" cmpd="sng" w="12700">
            <a:solidFill>
              <a:srgbClr val="142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AF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AFC8"/>
                </a:solidFill>
                <a:latin typeface="Calibri"/>
                <a:ea typeface="Calibri"/>
                <a:cs typeface="Calibri"/>
                <a:sym typeface="Calibri"/>
              </a:rPr>
              <a:t>AI 기반 계약서 분석 서비스  |  팀명: ANTIDOTE팀  | 프로젝트 수행 일정  2026.04.20 ~ 2026.05.07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B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문제 정의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6"/>
          <p:cNvSpPr/>
          <p:nvPr/>
        </p:nvSpPr>
        <p:spPr>
          <a:xfrm>
            <a:off x="347472" y="1115568"/>
            <a:ext cx="1938528" cy="3200400"/>
          </a:xfrm>
          <a:prstGeom prst="rect">
            <a:avLst/>
          </a:prstGeom>
          <a:solidFill>
            <a:srgbClr val="FDECEA"/>
          </a:solidFill>
          <a:ln cap="flat" cmpd="sng" w="1905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/>
          <p:nvPr/>
        </p:nvSpPr>
        <p:spPr>
          <a:xfrm>
            <a:off x="347472" y="1115568"/>
            <a:ext cx="1938528" cy="109728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393192" y="1207008"/>
            <a:ext cx="18470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6"/>
          <p:cNvSpPr/>
          <p:nvPr/>
        </p:nvSpPr>
        <p:spPr>
          <a:xfrm>
            <a:off x="420624" y="1755648"/>
            <a:ext cx="179222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사회초년생의 피해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438912" y="2267712"/>
            <a:ext cx="17556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근로계약서 내 독소조항을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인지하지 못해 임금 미지급,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부당 해고 등 피해 발생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2468880" y="1115568"/>
            <a:ext cx="1938528" cy="3200400"/>
          </a:xfrm>
          <a:prstGeom prst="rect">
            <a:avLst/>
          </a:prstGeom>
          <a:solidFill>
            <a:srgbClr val="FFF8EC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2468880" y="1115568"/>
            <a:ext cx="1938528" cy="109728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/>
          <p:nvPr/>
        </p:nvSpPr>
        <p:spPr>
          <a:xfrm>
            <a:off x="2514600" y="1207008"/>
            <a:ext cx="18470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2542032" y="1755648"/>
            <a:ext cx="179222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법률 해석의 어려움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2560320" y="2267712"/>
            <a:ext cx="17556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복잡한 법률 용어로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일반인이 스스로 독소조항을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발견하기 사실상 불가능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4590288" y="1115568"/>
            <a:ext cx="1938528" cy="3200400"/>
          </a:xfrm>
          <a:prstGeom prst="rect">
            <a:avLst/>
          </a:prstGeom>
          <a:solidFill>
            <a:srgbClr val="E8F7F5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4590288" y="1115568"/>
            <a:ext cx="1938528" cy="1097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4636008" y="1207008"/>
            <a:ext cx="18470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⚖️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4663440" y="1755648"/>
            <a:ext cx="179222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사장님의 법적 리스크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4681728" y="2267712"/>
            <a:ext cx="17556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법 위반 사실을 몰랐더라도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과태료·행정처분 등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법적 책임을 피할 수 없음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6711696" y="1115568"/>
            <a:ext cx="1938528" cy="3200400"/>
          </a:xfrm>
          <a:prstGeom prst="rect">
            <a:avLst/>
          </a:prstGeom>
          <a:solidFill>
            <a:srgbClr val="F0EEFF"/>
          </a:solidFill>
          <a:ln cap="flat" cmpd="sng" w="1905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6711696" y="1115568"/>
            <a:ext cx="1938528" cy="109728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6757416" y="1207008"/>
            <a:ext cx="18470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💸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6784848" y="1755648"/>
            <a:ext cx="179222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검증 비용과 번거로움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6803136" y="2267712"/>
            <a:ext cx="17556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계약서마다 변호사에게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물어보기엔 돈·시간 비용이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너무 큼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6803136" y="3310128"/>
            <a:ext cx="1755648" cy="896112"/>
          </a:xfrm>
          <a:prstGeom prst="rect">
            <a:avLst/>
          </a:prstGeom>
          <a:solidFill>
            <a:srgbClr val="6C5CE7">
              <a:alpha val="12156"/>
            </a:srgbClr>
          </a:solidFill>
          <a:ln cap="flat" cmpd="sng" w="1015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6830568" y="3346704"/>
            <a:ext cx="170078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6C5CE7"/>
                </a:solidFill>
                <a:latin typeface="Calibri"/>
                <a:ea typeface="Calibri"/>
                <a:cs typeface="Calibri"/>
                <a:sym typeface="Calibri"/>
              </a:rPr>
              <a:t>한 번 서명하면 되돌릴 수 없는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6C5CE7"/>
                </a:solidFill>
                <a:latin typeface="Calibri"/>
                <a:ea typeface="Calibri"/>
                <a:cs typeface="Calibri"/>
                <a:sym typeface="Calibri"/>
              </a:rPr>
              <a:t>중요한 결정인데도 검증은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6C5CE7"/>
                </a:solidFill>
                <a:latin typeface="Calibri"/>
                <a:ea typeface="Calibri"/>
                <a:cs typeface="Calibri"/>
                <a:sym typeface="Calibri"/>
              </a:rPr>
              <a:t>생략되는 게 현실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347472" y="4480560"/>
            <a:ext cx="8449056" cy="5029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457200" y="4507992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계약서는 한 번 서명하면 되돌릴 수 없습니다. 그러나 검증은 너무 어렵고, 비용이 너무 큽니다.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B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기획의도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457200" y="1143000"/>
            <a:ext cx="64008" cy="86868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"/>
          <p:cNvSpPr/>
          <p:nvPr/>
        </p:nvSpPr>
        <p:spPr>
          <a:xfrm>
            <a:off x="640080" y="1143000"/>
            <a:ext cx="384048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731520" y="1188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문제 인식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731520" y="146304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사회초년생·외국인 노동자 등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법률 약자가 불리한 계약서에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서명하는 현실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457200" y="203911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457200" y="2331720"/>
            <a:ext cx="64008" cy="86868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7"/>
          <p:cNvSpPr/>
          <p:nvPr/>
        </p:nvSpPr>
        <p:spPr>
          <a:xfrm>
            <a:off x="640080" y="2331720"/>
            <a:ext cx="384048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"/>
          <p:cNvSpPr/>
          <p:nvPr/>
        </p:nvSpPr>
        <p:spPr>
          <a:xfrm>
            <a:off x="731520" y="2377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해결 방향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731520" y="26517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시멘틱 서치로 법률 용어의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의미를 이해하고 독소조항을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자동으로 탐지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457200" y="32278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457200" y="3520440"/>
            <a:ext cx="64008" cy="86868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640080" y="3520440"/>
            <a:ext cx="384048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731520" y="3566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1B3A6B"/>
                </a:solidFill>
                <a:latin typeface="Arial Black"/>
                <a:ea typeface="Arial Black"/>
                <a:cs typeface="Arial Black"/>
                <a:sym typeface="Arial Black"/>
              </a:rPr>
              <a:t>목표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731520" y="38404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노사 모두를 보호하는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리스크 관리 솔루션 제공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공정한 근로 환경 조성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5029200" y="1097280"/>
            <a:ext cx="3657600" cy="356616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5120640" y="123444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600"/>
              <a:buFont typeface="Arial Black"/>
              <a:buNone/>
            </a:pPr>
            <a:r>
              <a:rPr b="1" lang="en-US" sz="1600">
                <a:solidFill>
                  <a:srgbClr val="00A896"/>
                </a:solidFill>
                <a:latin typeface="Arial Black"/>
                <a:ea typeface="Arial Black"/>
                <a:cs typeface="Arial Black"/>
                <a:sym typeface="Arial Black"/>
              </a:rPr>
              <a:t>서비스 목표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5166360" y="1737360"/>
            <a:ext cx="3383280" cy="43891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2A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5257800" y="176479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📌  독소조항 자동 탐지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5166360" y="2267712"/>
            <a:ext cx="3383280" cy="43891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2A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5257800" y="2295144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📋  근거 법령 기반 수정 제안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5166360" y="2798064"/>
            <a:ext cx="3383280" cy="43891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2A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5257800" y="2825496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🔍  시멘틱 서치로 문맥 이해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5166360" y="3328416"/>
            <a:ext cx="3383280" cy="43891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2A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5257800" y="335584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누구나 쉽게 사용 가능한 UI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5166360" y="3858768"/>
            <a:ext cx="3383280" cy="43891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2A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5257800" y="38862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🛡️  노사 모두를 위한 리스크 관리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/>
          <p:nvPr/>
        </p:nvSpPr>
        <p:spPr>
          <a:xfrm>
            <a:off x="411480" y="164592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1B3A6B"/>
                </a:solidFill>
                <a:latin typeface="Arial Black"/>
                <a:ea typeface="Arial Black"/>
                <a:cs typeface="Arial Black"/>
                <a:sym typeface="Arial Black"/>
              </a:rPr>
              <a:t>프로젝트 수행 배경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438912" y="731520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실제 뉴스가 보여주는 근로계약서 독소조항의 현실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7388352" y="164592"/>
            <a:ext cx="1389888" cy="566928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7388352" y="164592"/>
            <a:ext cx="13898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사회적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배경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411480" y="1115568"/>
            <a:ext cx="2679192" cy="32461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"/>
          <p:cNvSpPr/>
          <p:nvPr/>
        </p:nvSpPr>
        <p:spPr>
          <a:xfrm>
            <a:off x="411480" y="1115568"/>
            <a:ext cx="2679192" cy="475488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521208" y="1170432"/>
            <a:ext cx="2496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로톡뉴스  ·  2025.10.23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521208" y="1389888"/>
            <a:ext cx="2459736" cy="18288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539496" y="1399032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불법 조항 실태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521208" y="1682496"/>
            <a:ext cx="2459736" cy="749808"/>
          </a:xfrm>
          <a:prstGeom prst="rect">
            <a:avLst/>
          </a:prstGeom>
          <a:solidFill>
            <a:srgbClr val="FFF0F0"/>
          </a:solidFill>
          <a:ln cap="flat" cmpd="sng" w="9525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/>
          <p:cNvSpPr/>
          <p:nvPr/>
        </p:nvSpPr>
        <p:spPr>
          <a:xfrm>
            <a:off x="557784" y="1709928"/>
            <a:ext cx="23865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Arial Black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"연차수당 없다·즉시 해고 가능"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Arial Black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…모두 불법 조항이다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521208" y="2505456"/>
            <a:ext cx="2459736" cy="27432"/>
          </a:xfrm>
          <a:prstGeom prst="rect">
            <a:avLst/>
          </a:prstGeom>
          <a:solidFill>
            <a:srgbClr val="E63946">
              <a:alpha val="45098"/>
            </a:srgbClr>
          </a:solidFill>
          <a:ln cap="flat" cmpd="sng" w="12700">
            <a:solidFill>
              <a:srgbClr val="E6394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548640" y="2578608"/>
            <a:ext cx="2404872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근로계약서 제10조에 '노동관계법령 이의제기 금지' 조항 → 대법원: 강행법규 위반으로 무효. 불법 조항인지 모르고 서명하는 근로자가 여전히 다수.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558475" y="4080377"/>
            <a:ext cx="2404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출처: 로톡뉴스</a:t>
            </a:r>
            <a:b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https://lawtalknews.co.kr/article/YTS5DMMOU369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3255264" y="1115568"/>
            <a:ext cx="2679192" cy="32461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1612900050" rotWithShape="0" algn="bl" dist="483870000">
              <a:srgbClr val="000000">
                <a:alpha val="9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"/>
          <p:cNvSpPr/>
          <p:nvPr/>
        </p:nvSpPr>
        <p:spPr>
          <a:xfrm>
            <a:off x="3255264" y="1115568"/>
            <a:ext cx="2679192" cy="475488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3364992" y="1170432"/>
            <a:ext cx="2496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로톡뉴스  ·  2026.03.05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3364992" y="1389888"/>
            <a:ext cx="2459736" cy="18288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3383280" y="1399032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latin typeface="Arial Black"/>
                <a:ea typeface="Arial Black"/>
                <a:cs typeface="Arial Black"/>
                <a:sym typeface="Arial Black"/>
              </a:rPr>
              <a:t>실제 피해 사례</a:t>
            </a:r>
            <a:endParaRPr b="0" i="0" sz="9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3364992" y="1682496"/>
            <a:ext cx="2459736" cy="749808"/>
          </a:xfrm>
          <a:prstGeom prst="rect">
            <a:avLst/>
          </a:prstGeom>
          <a:solidFill>
            <a:srgbClr val="FFF8EE"/>
          </a:solidFill>
          <a:ln cap="flat" cmpd="sng" w="9525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3401568" y="1709928"/>
            <a:ext cx="23865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Arial Black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계약서 한 장에 발목…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Arial Black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퇴사하니 '월급 2달치 반환' 요구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3364992" y="2505456"/>
            <a:ext cx="2459736" cy="27432"/>
          </a:xfrm>
          <a:prstGeom prst="rect">
            <a:avLst/>
          </a:prstGeom>
          <a:solidFill>
            <a:srgbClr val="F4A261">
              <a:alpha val="45098"/>
            </a:srgbClr>
          </a:solidFill>
          <a:ln cap="flat" cmpd="sng" w="12700">
            <a:solidFill>
              <a:srgbClr val="F4A26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3392424" y="2578608"/>
            <a:ext cx="2404872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'동업자 계약서'에 숨겨진 독소조항 — 2달 전 미통보 시 월급 2달치 손해배상 요구. 계약서 명칭과 실질이 달라 피해를 입은 실제 사례.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3392425" y="4080296"/>
            <a:ext cx="2404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출처: 로톡뉴스 https://lawtalknews.co.kr/article/K3YNLQ4I53V8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6099048" y="1115568"/>
            <a:ext cx="2679192" cy="32461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20483830500000" rotWithShape="0" algn="bl" dist="-949200576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6099048" y="1115568"/>
            <a:ext cx="2679192" cy="47548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6208776" y="1170432"/>
            <a:ext cx="2496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로톡뉴스  ·  2026.04.03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6208776" y="1389888"/>
            <a:ext cx="2459736" cy="18288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6227064" y="1399032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latin typeface="Arial Black"/>
                <a:ea typeface="Arial Black"/>
                <a:cs typeface="Arial Black"/>
                <a:sym typeface="Arial Black"/>
              </a:rPr>
              <a:t>입법 움직임</a:t>
            </a:r>
            <a:endParaRPr b="0" i="0" sz="9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6208776" y="1682496"/>
            <a:ext cx="2459736" cy="749808"/>
          </a:xfrm>
          <a:prstGeom prst="rect">
            <a:avLst/>
          </a:prstGeom>
          <a:solidFill>
            <a:srgbClr val="EAF6F7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6245352" y="1709928"/>
            <a:ext cx="23865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Arial Black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'공짜 야근' 주범 포괄임금제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Arial Black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역사 속으로 사라지나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6208776" y="2505456"/>
            <a:ext cx="2459736" cy="27432"/>
          </a:xfrm>
          <a:prstGeom prst="rect">
            <a:avLst/>
          </a:prstGeom>
          <a:solidFill>
            <a:srgbClr val="028090">
              <a:alpha val="45098"/>
            </a:srgbClr>
          </a:solidFill>
          <a:ln cap="flat" cmpd="sng" w="12700">
            <a:solidFill>
              <a:srgbClr val="02809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6236208" y="2578608"/>
            <a:ext cx="2404872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실제 야근 50시간 vs. 지급 연장수당 20시간분. 포괄임금제 금지 법안 9건 국회 상정. 법 조문에도 없는 관행이 수십 년간 근로자를 착취.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6236200" y="4080295"/>
            <a:ext cx="2404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출처: 로톡뉴스</a:t>
            </a:r>
            <a:b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https://lawtalknews.co.kr/article/Y09BSV3735TP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411480" y="4517136"/>
            <a:ext cx="8321040" cy="5486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411480" y="4517136"/>
            <a:ext cx="457200" cy="5486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411480" y="4517136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960120" y="4535424"/>
            <a:ext cx="76809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근로자 10명 중 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7명이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입사 시 근로계약서 내용을 제대로 확인하지 않고 서명한다는 결과가 있습니다.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2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0A896"/>
                </a:solidFill>
                <a:latin typeface="Arial Black"/>
                <a:ea typeface="Arial Black"/>
                <a:cs typeface="Arial Black"/>
                <a:sym typeface="Arial Black"/>
              </a:rPr>
              <a:t>ANTIDOTE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는 이 현실에서 출발했습니다.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/>
          <p:nvPr/>
        </p:nvSpPr>
        <p:spPr>
          <a:xfrm>
            <a:off x="411480" y="182880"/>
            <a:ext cx="5486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1B3A6B"/>
                </a:solidFill>
                <a:latin typeface="Arial Black"/>
                <a:ea typeface="Arial Black"/>
                <a:cs typeface="Arial Black"/>
                <a:sym typeface="Arial Black"/>
              </a:rPr>
              <a:t>기존 서비스의 한계</a:t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429768" y="74980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Georgia"/>
              <a:buNone/>
            </a:pPr>
            <a:r>
              <a:rPr b="0" i="1" lang="en-US" sz="1400" u="none" cap="none" strike="noStrike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왜 ANTIDOTE가 필요한가?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7223760" y="201168"/>
            <a:ext cx="1554480" cy="658368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7223760" y="201168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문제 인식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411480" y="1207008"/>
            <a:ext cx="2633472" cy="3493008"/>
          </a:xfrm>
          <a:prstGeom prst="rect">
            <a:avLst/>
          </a:prstGeom>
          <a:solidFill>
            <a:srgbClr val="EAF6F7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411480" y="1207008"/>
            <a:ext cx="2633472" cy="7132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411480" y="1243584"/>
            <a:ext cx="640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978408" y="1261872"/>
            <a:ext cx="19933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AI 자동화 서비스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978408" y="1591056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F5E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0F5EE"/>
                </a:solidFill>
                <a:latin typeface="Calibri"/>
                <a:ea typeface="Calibri"/>
                <a:cs typeface="Calibri"/>
                <a:sym typeface="Calibri"/>
              </a:rPr>
              <a:t>로폼 · 엘박스 · 모두싸인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548640" y="2011680"/>
            <a:ext cx="2359152" cy="2926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576072" y="2020824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✔  장점: </a:t>
            </a: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빠르고 간편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548640" y="2395728"/>
            <a:ext cx="2359152" cy="27432"/>
          </a:xfrm>
          <a:prstGeom prst="rect">
            <a:avLst/>
          </a:prstGeom>
          <a:solidFill>
            <a:srgbClr val="028090">
              <a:alpha val="40000"/>
            </a:srgbClr>
          </a:solidFill>
          <a:ln cap="flat" cmpd="sng" w="12700">
            <a:solidFill>
              <a:srgbClr val="0280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548640" y="2450592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⚠  한계점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566928" y="2798064"/>
            <a:ext cx="128016" cy="128016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740664" y="2743200"/>
            <a:ext cx="21762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lawform – 법률문서 작성 서비스 제공, 근로자 입장에서 독소조항 판별은 제공하지 않음.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566928" y="3346704"/>
            <a:ext cx="128016" cy="128016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740664" y="3291840"/>
            <a:ext cx="21762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Lbox – 조항 분석을 제공하지만 법률 업무를 주로하는 변호사에게 편하게 작업하기 위한 도구로 월 구독료 등 비용 발생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566928" y="4023360"/>
            <a:ext cx="128016" cy="128016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740664" y="4008479"/>
            <a:ext cx="21762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기업과 법률 전문가용 플랫폼이 많다.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3246120" y="1207008"/>
            <a:ext cx="2633472" cy="3493008"/>
          </a:xfrm>
          <a:prstGeom prst="rect">
            <a:avLst/>
          </a:prstGeom>
          <a:solidFill>
            <a:srgbClr val="FFF8EE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3246120" y="1207008"/>
            <a:ext cx="2633472" cy="713232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3246120" y="1243584"/>
            <a:ext cx="640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3813048" y="1261872"/>
            <a:ext cx="19933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변호사·노무사 플랫폼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3813048" y="1591056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F5E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0F5EE"/>
                </a:solidFill>
                <a:latin typeface="Calibri"/>
                <a:ea typeface="Calibri"/>
                <a:cs typeface="Calibri"/>
                <a:sym typeface="Calibri"/>
              </a:rPr>
              <a:t>로톡 · 네이버 엑스퍼트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3383280" y="2011680"/>
            <a:ext cx="2359152" cy="2926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3410712" y="2020824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✔  장점: </a:t>
            </a: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전문가 직접 검토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3383280" y="2395728"/>
            <a:ext cx="2359152" cy="27432"/>
          </a:xfrm>
          <a:prstGeom prst="rect">
            <a:avLst/>
          </a:prstGeom>
          <a:solidFill>
            <a:srgbClr val="F4A261">
              <a:alpha val="40000"/>
            </a:srgbClr>
          </a:solidFill>
          <a:ln cap="flat" cmpd="sng" w="12700">
            <a:solidFill>
              <a:srgbClr val="F4A26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3383280" y="2450592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⚠  한계점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3401568" y="2798064"/>
            <a:ext cx="128016" cy="128016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3575304" y="2743200"/>
            <a:ext cx="21762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1회 상담 수만 원 이상 비용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3401568" y="3346704"/>
            <a:ext cx="128016" cy="128016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3575304" y="3291840"/>
            <a:ext cx="21762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예약·대기 필요 → 즉시 확인 불가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3401568" y="3895344"/>
            <a:ext cx="128016" cy="128016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3575304" y="3840480"/>
            <a:ext cx="21762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계약 당일 긴급 상황 대응 어려움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080760" y="1207008"/>
            <a:ext cx="2633472" cy="3493008"/>
          </a:xfrm>
          <a:prstGeom prst="rect">
            <a:avLst/>
          </a:prstGeom>
          <a:solidFill>
            <a:srgbClr val="F3F0FF"/>
          </a:solidFill>
          <a:ln cap="flat" cmpd="sng" w="1905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6080760" y="1207008"/>
            <a:ext cx="2633472" cy="713232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6080760" y="1243584"/>
            <a:ext cx="640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6647688" y="1261872"/>
            <a:ext cx="19933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공공·무료 지원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647688" y="1591056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F5E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0F5EE"/>
                </a:solidFill>
                <a:latin typeface="Calibri"/>
                <a:ea typeface="Calibri"/>
                <a:cs typeface="Calibri"/>
                <a:sym typeface="Calibri"/>
              </a:rPr>
              <a:t>노동권익센터 · 청소년근로권익센터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6217920" y="2011680"/>
            <a:ext cx="2359152" cy="2926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6245352" y="2020824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C5CE7"/>
                </a:solidFill>
                <a:latin typeface="Calibri"/>
                <a:ea typeface="Calibri"/>
                <a:cs typeface="Calibri"/>
                <a:sym typeface="Calibri"/>
              </a:rPr>
              <a:t>✔  장점: </a:t>
            </a: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비용 없음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6217920" y="2395728"/>
            <a:ext cx="2359152" cy="27432"/>
          </a:xfrm>
          <a:prstGeom prst="rect">
            <a:avLst/>
          </a:prstGeom>
          <a:solidFill>
            <a:srgbClr val="6C5CE7">
              <a:alpha val="40000"/>
            </a:srgbClr>
          </a:solidFill>
          <a:ln cap="flat" cmpd="sng" w="12700">
            <a:solidFill>
              <a:srgbClr val="6C5CE7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6217920" y="2450592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⚠  한계점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6236208" y="2798064"/>
            <a:ext cx="128016" cy="128016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6409944" y="2743200"/>
            <a:ext cx="21762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운영 시간 제한 → 365일 24시간 불가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6236208" y="3346704"/>
            <a:ext cx="128016" cy="128016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6409944" y="3291840"/>
            <a:ext cx="21762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지역·연령 제한으로 접근성 낮음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236208" y="3895344"/>
            <a:ext cx="128016" cy="128016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6409944" y="3840480"/>
            <a:ext cx="21762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대기 시간 길어 즉각 대응 어려움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411480" y="4791456"/>
            <a:ext cx="8321040" cy="43891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548640" y="480974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💡 </a:t>
            </a:r>
            <a:r>
              <a:rPr b="0" i="1" lang="en-US" sz="1200" u="none" cap="none" strike="noStrike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ANTIDOTE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저렴한 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비용 , 즉시, 근로계약서 특화 시멘틱 서치로 변형 독소조항까지 탐지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B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핵심 기능 ①  —  독소조항 탐지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365760" y="1143000"/>
            <a:ext cx="3840480" cy="3703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502920" y="1261872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1B3A6B"/>
                </a:solidFill>
                <a:latin typeface="Arial Black"/>
                <a:ea typeface="Arial Black"/>
                <a:cs typeface="Arial Black"/>
                <a:sym typeface="Arial Black"/>
              </a:rPr>
              <a:t>작동 방식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502920" y="1719072"/>
            <a:ext cx="384048" cy="384048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502920" y="1737360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987552" y="1700784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계약서 업로드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987552" y="1938528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PDF 또는 텍스트 파일 업로드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10"/>
          <p:cNvCxnSpPr/>
          <p:nvPr/>
        </p:nvCxnSpPr>
        <p:spPr>
          <a:xfrm>
            <a:off x="685800" y="2112264"/>
            <a:ext cx="0" cy="347472"/>
          </a:xfrm>
          <a:prstGeom prst="straightConnector1">
            <a:avLst/>
          </a:prstGeom>
          <a:noFill/>
          <a:ln cap="flat" cmpd="sng" w="12700">
            <a:solidFill>
              <a:srgbClr val="C0C0C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03" name="Google Shape;203;p10"/>
          <p:cNvSpPr/>
          <p:nvPr/>
        </p:nvSpPr>
        <p:spPr>
          <a:xfrm>
            <a:off x="502920" y="2468880"/>
            <a:ext cx="384048" cy="384048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502920" y="2487168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987552" y="245059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텍스트 임베딩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987552" y="2688336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계약서 조항을 벡터로 변환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10"/>
          <p:cNvCxnSpPr/>
          <p:nvPr/>
        </p:nvCxnSpPr>
        <p:spPr>
          <a:xfrm>
            <a:off x="685800" y="2862072"/>
            <a:ext cx="0" cy="347472"/>
          </a:xfrm>
          <a:prstGeom prst="straightConnector1">
            <a:avLst/>
          </a:prstGeom>
          <a:noFill/>
          <a:ln cap="flat" cmpd="sng" w="12700">
            <a:solidFill>
              <a:srgbClr val="C0C0C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08" name="Google Shape;208;p10"/>
          <p:cNvSpPr/>
          <p:nvPr/>
        </p:nvSpPr>
        <p:spPr>
          <a:xfrm>
            <a:off x="502920" y="3218688"/>
            <a:ext cx="384048" cy="384048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502920" y="3236976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987552" y="320040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유사도 검색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987552" y="3438144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근로기준법·판례 DB와 대조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10"/>
          <p:cNvCxnSpPr/>
          <p:nvPr/>
        </p:nvCxnSpPr>
        <p:spPr>
          <a:xfrm>
            <a:off x="685800" y="3611880"/>
            <a:ext cx="0" cy="347472"/>
          </a:xfrm>
          <a:prstGeom prst="straightConnector1">
            <a:avLst/>
          </a:prstGeom>
          <a:noFill/>
          <a:ln cap="flat" cmpd="sng" w="12700">
            <a:solidFill>
              <a:srgbClr val="C0C0C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3" name="Google Shape;213;p10"/>
          <p:cNvSpPr/>
          <p:nvPr/>
        </p:nvSpPr>
        <p:spPr>
          <a:xfrm>
            <a:off x="502920" y="3968496"/>
            <a:ext cx="384048" cy="384048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502920" y="3986784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987552" y="3950208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위험 조항 탐지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987552" y="4187952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독소조항 빨간색 하이라이트 표시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480560" y="1143000"/>
            <a:ext cx="4297680" cy="3703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4480560" y="1143000"/>
            <a:ext cx="4297680" cy="347472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4553712" y="1197864"/>
            <a:ext cx="128016" cy="128016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4709160" y="1197864"/>
            <a:ext cx="128016" cy="128016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4864608" y="1197864"/>
            <a:ext cx="128016" cy="128016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4572000" y="155448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1B3A6B"/>
                </a:solidFill>
                <a:latin typeface="Arial Black"/>
                <a:ea typeface="Arial Black"/>
                <a:cs typeface="Arial Black"/>
                <a:sym typeface="Arial Black"/>
              </a:rPr>
              <a:t>계약서 분석 결과 </a:t>
            </a:r>
            <a:r>
              <a:rPr b="1" lang="en-US" sz="1200">
                <a:solidFill>
                  <a:srgbClr val="1B3A6B"/>
                </a:solidFill>
                <a:latin typeface="Arial Black"/>
                <a:ea typeface="Arial Black"/>
                <a:cs typeface="Arial Black"/>
                <a:sym typeface="Arial Black"/>
              </a:rPr>
              <a:t>예시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4663440" y="200253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제1조: 근로 기간은 1년으로 한다.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4572000" y="2432304"/>
            <a:ext cx="4114800" cy="402336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4663440" y="249631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제3조: 퇴직금은 지급하지 않는다. ← 독소조항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4663440" y="299008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제5조: 임금은 매월 25일 지급한다.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4572000" y="3419856"/>
            <a:ext cx="4114800" cy="402336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4663440" y="348386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제7조: 연장근로 수당 없이 주 60시간 근무 ← 독소조항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663440" y="397764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제9조: 연차 휴가는 법정 기준에 따른다.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4572000" y="4480560"/>
            <a:ext cx="4114800" cy="274320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4663440" y="4489704"/>
            <a:ext cx="39319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독소조항 2건 발견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핵심 기능 ②  —  수정 제안 제공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365760" y="1143000"/>
            <a:ext cx="3840480" cy="35661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365760" y="1143000"/>
            <a:ext cx="3840480" cy="384048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❌  BEFORE  —  독소조항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457200" y="1627632"/>
            <a:ext cx="3657600" cy="640080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548640" y="1664208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제3조: 퇴직금은 지급하지 않는다.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502920" y="23774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문제점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502920" y="2670048"/>
            <a:ext cx="3520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근로기준법 제34조에 따라 1년 이상 근무한 근로자에게는 퇴직금 지급 의무가 있습니다. 이를 배제하는 조항은 무효입니다.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457200" y="3657600"/>
            <a:ext cx="3657600" cy="347472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548640" y="3685032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근거: 근로기준법 제34조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4251960" y="2286000"/>
            <a:ext cx="594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4937760" y="1143000"/>
            <a:ext cx="3840480" cy="35661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4937760" y="1143000"/>
            <a:ext cx="3840480" cy="3840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5029200" y="11887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✅  AFTER  —  수정 제안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5029200" y="1627632"/>
            <a:ext cx="3657600" cy="640080"/>
          </a:xfrm>
          <a:prstGeom prst="rect">
            <a:avLst/>
          </a:prstGeom>
          <a:solidFill>
            <a:srgbClr val="E8F7F5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5120640" y="1664208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제3조: 퇴직금은 근로기준법 제34조에 따라 1년 이상 근무 시 지급한다.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5074920" y="23774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수정 이유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5074920" y="2670048"/>
            <a:ext cx="3520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퇴직금 지급 의무를 명시함으로써 법적 분쟁을 사전에 방지하고 노사 모두에게 안전한 계약서를 만듭니다.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5029200" y="3657600"/>
            <a:ext cx="3657600" cy="347472"/>
          </a:xfrm>
          <a:prstGeom prst="rect">
            <a:avLst/>
          </a:prstGeom>
          <a:solidFill>
            <a:srgbClr val="E8F7F5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5120640" y="3685032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근거: 근로기준법 제34조 적용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457200" y="477316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Georgia"/>
              <a:buNone/>
            </a:pPr>
            <a:r>
              <a:rPr i="1" lang="en-US" sz="1150">
                <a:solidFill>
                  <a:srgbClr val="64748B"/>
                </a:solidFill>
                <a:latin typeface="Georgia"/>
                <a:ea typeface="Georgia"/>
                <a:cs typeface="Georgia"/>
                <a:sym typeface="Georgia"/>
              </a:rPr>
              <a:t>단순 경고가 아닌, 법적 근거 + 대안 문구까지 제공하는 것이 핵심 차별점입니다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B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서비스 시연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365760" y="1115568"/>
            <a:ext cx="5303520" cy="3520440"/>
          </a:xfrm>
          <a:prstGeom prst="rect">
            <a:avLst/>
          </a:prstGeom>
          <a:solidFill>
            <a:srgbClr val="1A2F52"/>
          </a:solidFill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2240280" y="2103120"/>
            <a:ext cx="1554480" cy="1554480"/>
          </a:xfrm>
          <a:prstGeom prst="ellipse">
            <a:avLst/>
          </a:prstGeom>
          <a:solidFill>
            <a:srgbClr val="028090">
              <a:alpha val="85098"/>
            </a:srgbClr>
          </a:solidFill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2240280" y="2103120"/>
            <a:ext cx="1554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365760" y="301752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00A896"/>
                </a:solidFill>
                <a:latin typeface="Arial Black"/>
                <a:ea typeface="Arial Black"/>
                <a:cs typeface="Arial Black"/>
                <a:sym typeface="Arial Black"/>
              </a:rPr>
              <a:t>시연 영상 삽입 위치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457200" y="3364992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AFC8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8AAFC8"/>
                </a:solidFill>
                <a:latin typeface="Calibri"/>
                <a:ea typeface="Calibri"/>
                <a:cs typeface="Calibri"/>
                <a:sym typeface="Calibri"/>
              </a:rPr>
              <a:t>PowerPoint 삽입 &gt; 비디오 &gt; 이 디바이스에서 비디오를 선택하여 업로드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457200" y="4407408"/>
            <a:ext cx="5120640" cy="137160"/>
          </a:xfrm>
          <a:prstGeom prst="rect">
            <a:avLst/>
          </a:prstGeom>
          <a:solidFill>
            <a:srgbClr val="2A4A6E"/>
          </a:solidFill>
          <a:ln cap="flat" cmpd="sng" w="12700">
            <a:solidFill>
              <a:srgbClr val="2A4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457200" y="4407408"/>
            <a:ext cx="1645920" cy="1371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2011680" y="4361688"/>
            <a:ext cx="228600" cy="228600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457200" y="4553712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FC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AAFC8"/>
                </a:solidFill>
                <a:latin typeface="Calibri"/>
                <a:ea typeface="Calibri"/>
                <a:cs typeface="Calibri"/>
                <a:sym typeface="Calibri"/>
              </a:rPr>
              <a:t>00:00                                           02:34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시연 순서: 계약서 업로드 → 독소조항 탐지 확인 → 수정 제안 확인 → 최종 결과 다운로드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12" title="시연오후KakaoTalk_20260504_12362167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50" y="1090250"/>
            <a:ext cx="5303525" cy="354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13" title="독소조항 탐지 결과화면.PNG"/>
          <p:cNvPicPr preferRelativeResize="0"/>
          <p:nvPr/>
        </p:nvPicPr>
        <p:blipFill rotWithShape="1">
          <a:blip r:embed="rId3">
            <a:alphaModFix/>
          </a:blip>
          <a:srcRect b="10730" l="15524" r="7202" t="4718"/>
          <a:stretch/>
        </p:blipFill>
        <p:spPr>
          <a:xfrm>
            <a:off x="5397900" y="1740300"/>
            <a:ext cx="4935825" cy="374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3" title="독소조항 수정안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68625"/>
            <a:ext cx="4455791" cy="402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3" title="독소조항 탐지 결과화면.PNG"/>
          <p:cNvPicPr preferRelativeResize="0"/>
          <p:nvPr/>
        </p:nvPicPr>
        <p:blipFill rotWithShape="1">
          <a:blip r:embed="rId3">
            <a:alphaModFix/>
          </a:blip>
          <a:srcRect b="10730" l="15524" r="7202" t="4718"/>
          <a:stretch/>
        </p:blipFill>
        <p:spPr>
          <a:xfrm>
            <a:off x="4542500" y="816225"/>
            <a:ext cx="6115675" cy="4641549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3"/>
          <p:cNvSpPr txBox="1"/>
          <p:nvPr/>
        </p:nvSpPr>
        <p:spPr>
          <a:xfrm>
            <a:off x="186804" y="314625"/>
            <a:ext cx="4355700" cy="50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영상 재생 불가 시 이미지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시스템 아키텍처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457200" y="713232"/>
            <a:ext cx="2286000" cy="6400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"/>
          <p:cNvSpPr/>
          <p:nvPr/>
        </p:nvSpPr>
        <p:spPr>
          <a:xfrm>
            <a:off x="649224" y="901618"/>
            <a:ext cx="987600" cy="1371600"/>
          </a:xfrm>
          <a:prstGeom prst="rect">
            <a:avLst/>
          </a:prstGeom>
          <a:solidFill>
            <a:srgbClr val="142E56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4"/>
          <p:cNvSpPr/>
          <p:nvPr/>
        </p:nvSpPr>
        <p:spPr>
          <a:xfrm>
            <a:off x="649224" y="956482"/>
            <a:ext cx="987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685800" y="1377106"/>
            <a:ext cx="914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PDF, </a:t>
            </a:r>
            <a:r>
              <a:rPr b="1" lang="en-US" sz="1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이미지</a:t>
            </a:r>
            <a:r>
              <a:rPr b="1" i="0" lang="en-US" sz="1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업로드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685800" y="1816018"/>
            <a:ext cx="91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AF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AFC8"/>
                </a:solidFill>
                <a:latin typeface="Calibri"/>
                <a:ea typeface="Calibri"/>
                <a:cs typeface="Calibri"/>
                <a:sym typeface="Calibri"/>
              </a:rPr>
              <a:t>사용자 입력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1636776" y="1313098"/>
            <a:ext cx="155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1792224" y="901618"/>
            <a:ext cx="987600" cy="1371600"/>
          </a:xfrm>
          <a:prstGeom prst="rect">
            <a:avLst/>
          </a:prstGeom>
          <a:solidFill>
            <a:srgbClr val="142E56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"/>
          <p:cNvSpPr/>
          <p:nvPr/>
        </p:nvSpPr>
        <p:spPr>
          <a:xfrm>
            <a:off x="1792224" y="956482"/>
            <a:ext cx="987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1828800" y="1377106"/>
            <a:ext cx="914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텍스트 추출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1828800" y="1816018"/>
            <a:ext cx="91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AFC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AAFC8"/>
                </a:solidFill>
                <a:latin typeface="Calibri"/>
                <a:ea typeface="Calibri"/>
                <a:cs typeface="Calibri"/>
                <a:sym typeface="Calibri"/>
              </a:rPr>
              <a:t>gemini api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2779776" y="1313098"/>
            <a:ext cx="155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2935224" y="901618"/>
            <a:ext cx="987600" cy="1371600"/>
          </a:xfrm>
          <a:prstGeom prst="rect">
            <a:avLst/>
          </a:prstGeom>
          <a:solidFill>
            <a:srgbClr val="16506B"/>
          </a:solidFill>
          <a:ln cap="flat" cmpd="sng" w="228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4"/>
          <p:cNvSpPr/>
          <p:nvPr/>
        </p:nvSpPr>
        <p:spPr>
          <a:xfrm>
            <a:off x="2935224" y="901618"/>
            <a:ext cx="987600" cy="732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4"/>
          <p:cNvSpPr/>
          <p:nvPr/>
        </p:nvSpPr>
        <p:spPr>
          <a:xfrm>
            <a:off x="2935224" y="956482"/>
            <a:ext cx="987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2971800" y="1377106"/>
            <a:ext cx="914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1차 AI모델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2971800" y="1816018"/>
            <a:ext cx="91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koELECTRA-small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3922776" y="1313098"/>
            <a:ext cx="155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4078224" y="901618"/>
            <a:ext cx="987600" cy="1371600"/>
          </a:xfrm>
          <a:prstGeom prst="rect">
            <a:avLst/>
          </a:prstGeom>
          <a:solidFill>
            <a:srgbClr val="142E56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4"/>
          <p:cNvSpPr/>
          <p:nvPr/>
        </p:nvSpPr>
        <p:spPr>
          <a:xfrm>
            <a:off x="4078224" y="956482"/>
            <a:ext cx="987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4114800" y="1377106"/>
            <a:ext cx="914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벡터 DB 검색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4114800" y="1816018"/>
            <a:ext cx="91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AFC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AAFC8"/>
                </a:solidFill>
                <a:latin typeface="Calibri"/>
                <a:ea typeface="Calibri"/>
                <a:cs typeface="Calibri"/>
                <a:sym typeface="Calibri"/>
              </a:rPr>
              <a:t>bge-m3  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5065776" y="1313098"/>
            <a:ext cx="155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5221224" y="901618"/>
            <a:ext cx="987600" cy="1371600"/>
          </a:xfrm>
          <a:prstGeom prst="rect">
            <a:avLst/>
          </a:prstGeom>
          <a:solidFill>
            <a:srgbClr val="1A3A5C"/>
          </a:solidFill>
          <a:ln cap="flat" cmpd="sng" w="228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5221224" y="901618"/>
            <a:ext cx="987600" cy="732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"/>
          <p:cNvSpPr/>
          <p:nvPr/>
        </p:nvSpPr>
        <p:spPr>
          <a:xfrm>
            <a:off x="5221224" y="956482"/>
            <a:ext cx="987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5257800" y="1377106"/>
            <a:ext cx="914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2차 AI모델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5257800" y="1816018"/>
            <a:ext cx="91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RoBERTa</a:t>
            </a:r>
            <a:r>
              <a:rPr b="0" i="0" lang="en-US" sz="85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-base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6208776" y="1313098"/>
            <a:ext cx="155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6364224" y="901618"/>
            <a:ext cx="987600" cy="1371600"/>
          </a:xfrm>
          <a:prstGeom prst="rect">
            <a:avLst/>
          </a:prstGeom>
          <a:solidFill>
            <a:srgbClr val="1A3A5C"/>
          </a:solidFill>
          <a:ln cap="flat" cmpd="sng" w="228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6364224" y="901618"/>
            <a:ext cx="987600" cy="732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6364224" y="956482"/>
            <a:ext cx="987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6400800" y="1377106"/>
            <a:ext cx="914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LLM 분석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6400800" y="1816018"/>
            <a:ext cx="91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Gemini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7351776" y="1313098"/>
            <a:ext cx="155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7507224" y="901618"/>
            <a:ext cx="987600" cy="1371600"/>
          </a:xfrm>
          <a:prstGeom prst="rect">
            <a:avLst/>
          </a:prstGeom>
          <a:solidFill>
            <a:srgbClr val="028090"/>
          </a:solidFill>
          <a:ln cap="flat" cmpd="sng" w="228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7507224" y="901618"/>
            <a:ext cx="987600" cy="732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"/>
          <p:cNvSpPr/>
          <p:nvPr/>
        </p:nvSpPr>
        <p:spPr>
          <a:xfrm>
            <a:off x="7507224" y="956482"/>
            <a:ext cx="987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7543800" y="1377106"/>
            <a:ext cx="914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결과 반환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7543800" y="1816018"/>
            <a:ext cx="91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F5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F5EE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254159" y="2741244"/>
            <a:ext cx="2743200" cy="1775400"/>
          </a:xfrm>
          <a:prstGeom prst="rect">
            <a:avLst/>
          </a:prstGeom>
          <a:solidFill>
            <a:srgbClr val="16506B"/>
          </a:solidFill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"/>
          <p:cNvSpPr/>
          <p:nvPr/>
        </p:nvSpPr>
        <p:spPr>
          <a:xfrm>
            <a:off x="254164" y="2741234"/>
            <a:ext cx="2743200" cy="3474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4"/>
          <p:cNvSpPr/>
          <p:nvPr/>
        </p:nvSpPr>
        <p:spPr>
          <a:xfrm>
            <a:off x="327316" y="2759522"/>
            <a:ext cx="2596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E56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142E56"/>
                </a:solidFill>
                <a:latin typeface="Arial Black"/>
                <a:ea typeface="Arial Black"/>
                <a:cs typeface="Arial Black"/>
                <a:sym typeface="Arial Black"/>
              </a:rPr>
              <a:t>🧠  1차 AI모델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391324" y="3152714"/>
            <a:ext cx="2469000" cy="274200"/>
          </a:xfrm>
          <a:prstGeom prst="rect">
            <a:avLst/>
          </a:prstGeom>
          <a:solidFill>
            <a:srgbClr val="1B3A6B"/>
          </a:solidFill>
          <a:ln cap="flat" cmpd="sng" w="101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4"/>
          <p:cNvSpPr/>
          <p:nvPr/>
        </p:nvSpPr>
        <p:spPr>
          <a:xfrm>
            <a:off x="391324" y="3161858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koELECTRA-small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363892" y="3487994"/>
            <a:ext cx="252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독소조항 판별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3225959" y="2741244"/>
            <a:ext cx="2743200" cy="1775400"/>
          </a:xfrm>
          <a:prstGeom prst="rect">
            <a:avLst/>
          </a:prstGeom>
          <a:solidFill>
            <a:srgbClr val="1E3A5F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4"/>
          <p:cNvSpPr/>
          <p:nvPr/>
        </p:nvSpPr>
        <p:spPr>
          <a:xfrm>
            <a:off x="3225964" y="2741234"/>
            <a:ext cx="2743200" cy="3474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4"/>
          <p:cNvSpPr/>
          <p:nvPr/>
        </p:nvSpPr>
        <p:spPr>
          <a:xfrm>
            <a:off x="3299116" y="2759522"/>
            <a:ext cx="2596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E56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142E56"/>
                </a:solidFill>
                <a:latin typeface="Arial Black"/>
                <a:ea typeface="Arial Black"/>
                <a:cs typeface="Arial Black"/>
                <a:sym typeface="Arial Black"/>
              </a:rPr>
              <a:t>🔍  2차 AI모델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3363124" y="3152714"/>
            <a:ext cx="2469000" cy="274200"/>
          </a:xfrm>
          <a:prstGeom prst="rect">
            <a:avLst/>
          </a:prstGeom>
          <a:solidFill>
            <a:srgbClr val="1B3A6B"/>
          </a:solidFill>
          <a:ln cap="flat" cmpd="sng" w="101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4"/>
          <p:cNvSpPr/>
          <p:nvPr/>
        </p:nvSpPr>
        <p:spPr>
          <a:xfrm>
            <a:off x="3363124" y="3161858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RoBERTa</a:t>
            </a: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-base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3335692" y="3512759"/>
            <a:ext cx="252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1" lang="en-US" sz="1050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050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연관도 정밀 계산 후 순위 재정렬</a:t>
            </a:r>
            <a:r>
              <a:rPr b="0" i="0" lang="en-US" sz="1050" u="none" cap="none" strike="noStrike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3345217" y="3802319"/>
            <a:ext cx="252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▸   </a:t>
            </a:r>
            <a:r>
              <a:rPr lang="en-US" sz="1050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관련도 높은 조항 최종 인출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6197759" y="2741243"/>
            <a:ext cx="2743200" cy="1775400"/>
          </a:xfrm>
          <a:prstGeom prst="rect">
            <a:avLst/>
          </a:prstGeom>
          <a:solidFill>
            <a:srgbClr val="1A2F50"/>
          </a:solidFill>
          <a:ln cap="flat" cmpd="sng" w="1905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6197764" y="2741234"/>
            <a:ext cx="2743200" cy="3474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6270916" y="2759522"/>
            <a:ext cx="2596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E56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142E56"/>
                </a:solidFill>
                <a:latin typeface="Arial Black"/>
                <a:ea typeface="Arial Black"/>
                <a:cs typeface="Arial Black"/>
                <a:sym typeface="Arial Black"/>
              </a:rPr>
              <a:t>💬  LLM 분석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6334924" y="3152714"/>
            <a:ext cx="2469000" cy="274200"/>
          </a:xfrm>
          <a:prstGeom prst="rect">
            <a:avLst/>
          </a:prstGeom>
          <a:solidFill>
            <a:srgbClr val="1B3A6B"/>
          </a:solidFill>
          <a:ln cap="flat" cmpd="sng" w="1015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4"/>
          <p:cNvSpPr/>
          <p:nvPr/>
        </p:nvSpPr>
        <p:spPr>
          <a:xfrm>
            <a:off x="6334924" y="3161858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Gemini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6307492" y="3518474"/>
            <a:ext cx="252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탐지 조항의 위험도 최종 판단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6307492" y="3855659"/>
            <a:ext cx="252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근거 법령 + 대안 문구 자동 생성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6307492" y="4173794"/>
            <a:ext cx="252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프롬프트 엔지니어링 적용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5"/>
          <p:cNvSpPr/>
          <p:nvPr/>
        </p:nvSpPr>
        <p:spPr>
          <a:xfrm>
            <a:off x="365760" y="164592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1B3A6B"/>
                </a:solidFill>
                <a:latin typeface="Arial Black"/>
                <a:ea typeface="Arial Black"/>
                <a:cs typeface="Arial Black"/>
                <a:sym typeface="Arial Black"/>
              </a:rPr>
              <a:t>ERD  —  데이터베이스 설계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384048" y="658368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ANTIDOTE 서비스의 3개 핵심 테이블 구조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7772400" y="201168"/>
            <a:ext cx="1143000" cy="53035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7772400" y="201168"/>
            <a:ext cx="1143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 Tables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+ vector DB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erd_image.png" id="362" name="Google Shape;36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987552"/>
            <a:ext cx="6583680" cy="3694176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5"/>
          <p:cNvSpPr/>
          <p:nvPr/>
        </p:nvSpPr>
        <p:spPr>
          <a:xfrm>
            <a:off x="7178040" y="987552"/>
            <a:ext cx="1691640" cy="1152144"/>
          </a:xfrm>
          <a:prstGeom prst="rect">
            <a:avLst/>
          </a:prstGeom>
          <a:solidFill>
            <a:srgbClr val="EBF4FF"/>
          </a:solidFill>
          <a:ln cap="flat" cmpd="sng" w="19050">
            <a:solidFill>
              <a:srgbClr val="3B6EA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7178040" y="987552"/>
            <a:ext cx="1691640" cy="274320"/>
          </a:xfrm>
          <a:prstGeom prst="rect">
            <a:avLst/>
          </a:prstGeom>
          <a:solidFill>
            <a:srgbClr val="3B6EA0"/>
          </a:solidFill>
          <a:ln cap="flat" cmpd="sng" w="12700">
            <a:solidFill>
              <a:srgbClr val="3B6E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7251192" y="1024128"/>
            <a:ext cx="15453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⚖️  precedents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7269480" y="1316736"/>
            <a:ext cx="1508760" cy="201168"/>
          </a:xfrm>
          <a:prstGeom prst="rect">
            <a:avLst/>
          </a:prstGeom>
          <a:solidFill>
            <a:srgbClr val="3B6EA0">
              <a:alpha val="14901"/>
            </a:srgbClr>
          </a:solidFill>
          <a:ln cap="flat" cmpd="sng" w="9525">
            <a:solidFill>
              <a:srgbClr val="3B6E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7269480" y="1325880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6EA0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3B6EA0"/>
                </a:solidFill>
                <a:latin typeface="Arial Black"/>
                <a:ea typeface="Arial Black"/>
                <a:cs typeface="Arial Black"/>
                <a:sym typeface="Arial Black"/>
              </a:rPr>
              <a:t>판례 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7287768" y="1554480"/>
            <a:ext cx="147218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실제 판례 2,400건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벡터 임베딩 저장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유사도 검색 대상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7178040" y="2231136"/>
            <a:ext cx="1691640" cy="1152144"/>
          </a:xfrm>
          <a:prstGeom prst="rect">
            <a:avLst/>
          </a:prstGeom>
          <a:solidFill>
            <a:srgbClr val="EBF8F7"/>
          </a:solidFill>
          <a:ln cap="flat" cmpd="sng" w="19050">
            <a:solidFill>
              <a:srgbClr val="2B6CB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7178040" y="2231136"/>
            <a:ext cx="1691640" cy="274320"/>
          </a:xfrm>
          <a:prstGeom prst="rect">
            <a:avLst/>
          </a:prstGeom>
          <a:solidFill>
            <a:srgbClr val="2B6CB0"/>
          </a:solidFill>
          <a:ln cap="flat" cmpd="sng" w="12700">
            <a:solidFill>
              <a:srgbClr val="2B6C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7251192" y="2267712"/>
            <a:ext cx="15453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📜  labor_laws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7269480" y="2560320"/>
            <a:ext cx="1508760" cy="201168"/>
          </a:xfrm>
          <a:prstGeom prst="rect">
            <a:avLst/>
          </a:prstGeom>
          <a:solidFill>
            <a:srgbClr val="2B6CB0">
              <a:alpha val="14901"/>
            </a:srgbClr>
          </a:solidFill>
          <a:ln cap="flat" cmpd="sng" w="9525">
            <a:solidFill>
              <a:srgbClr val="2B6C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7269480" y="2569464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2B6CB0"/>
                </a:solidFill>
                <a:latin typeface="Arial Black"/>
                <a:ea typeface="Arial Black"/>
                <a:cs typeface="Arial Black"/>
                <a:sym typeface="Arial Black"/>
              </a:rPr>
              <a:t>근로기준법 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7287768" y="2798064"/>
            <a:ext cx="147218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제1조~116조 전 조항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조문·요약·임베딩 저장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법령 매칭 근거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7178040" y="3474720"/>
            <a:ext cx="1691640" cy="1152144"/>
          </a:xfrm>
          <a:prstGeom prst="rect">
            <a:avLst/>
          </a:prstGeom>
          <a:solidFill>
            <a:srgbClr val="F0F4FF"/>
          </a:solidFill>
          <a:ln cap="flat" cmpd="sng" w="1905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7178040" y="3474720"/>
            <a:ext cx="1691640" cy="2743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7251192" y="3511296"/>
            <a:ext cx="15453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📊  analysis_history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7269480" y="3803904"/>
            <a:ext cx="1508760" cy="201168"/>
          </a:xfrm>
          <a:prstGeom prst="rect">
            <a:avLst/>
          </a:prstGeom>
          <a:solidFill>
            <a:srgbClr val="1B3A6B">
              <a:alpha val="14901"/>
            </a:srgbClr>
          </a:solidFill>
          <a:ln cap="flat" cmpd="sng" w="9525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7269480" y="3813048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1B3A6B"/>
                </a:solidFill>
                <a:latin typeface="Arial Black"/>
                <a:ea typeface="Arial Black"/>
                <a:cs typeface="Arial Black"/>
                <a:sym typeface="Arial Black"/>
              </a:rPr>
              <a:t>회원 분석 이력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7287768" y="4041648"/>
            <a:ext cx="147218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구글 로그인 ID 연동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분석 결과·위험도 저장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누적 리포트 조회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365760" y="4773168"/>
            <a:ext cx="8549640" cy="3200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5"/>
          <p:cNvSpPr/>
          <p:nvPr/>
        </p:nvSpPr>
        <p:spPr>
          <a:xfrm>
            <a:off x="502920" y="4791456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🔑  공통 설계 원칙: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판례·법령 테이블은 pgvector로 임베딩 저장  |  analysis_history는 google_id로 회원별 분석 이력 관리  |  </a:t>
            </a:r>
            <a:r>
              <a:rPr b="0" i="1" lang="en-US" sz="100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NN = NOT NULL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B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6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기술스택  &amp;  모델 학습 전략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365760" y="1097280"/>
            <a:ext cx="3474720" cy="347472"/>
          </a:xfrm>
          <a:prstGeom prst="rect">
            <a:avLst/>
          </a:prstGeom>
          <a:solidFill>
            <a:srgbClr val="E8F0FE"/>
          </a:solidFill>
          <a:ln cap="flat" cmpd="sng" w="12700">
            <a:solidFill>
              <a:srgbClr val="D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6"/>
          <p:cNvSpPr/>
          <p:nvPr/>
        </p:nvSpPr>
        <p:spPr>
          <a:xfrm>
            <a:off x="502920" y="114300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1B3A6B"/>
                </a:solidFill>
                <a:latin typeface="Arial Black"/>
                <a:ea typeface="Arial Black"/>
                <a:cs typeface="Arial Black"/>
                <a:sym typeface="Arial Black"/>
              </a:rPr>
              <a:t>🖥️  사용 기술스택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365760" y="1536192"/>
            <a:ext cx="1371600" cy="43891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6"/>
          <p:cNvSpPr/>
          <p:nvPr/>
        </p:nvSpPr>
        <p:spPr>
          <a:xfrm>
            <a:off x="384048" y="1627632"/>
            <a:ext cx="1335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FastAPI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1755648" y="1536192"/>
            <a:ext cx="2029968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6"/>
          <p:cNvSpPr/>
          <p:nvPr/>
        </p:nvSpPr>
        <p:spPr>
          <a:xfrm>
            <a:off x="1810512" y="1664208"/>
            <a:ext cx="182880" cy="18288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6"/>
          <p:cNvSpPr/>
          <p:nvPr/>
        </p:nvSpPr>
        <p:spPr>
          <a:xfrm>
            <a:off x="2029968" y="1627632"/>
            <a:ext cx="1700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365760" y="2084832"/>
            <a:ext cx="1371600" cy="43891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6"/>
          <p:cNvSpPr/>
          <p:nvPr/>
        </p:nvSpPr>
        <p:spPr>
          <a:xfrm>
            <a:off x="384048" y="2176272"/>
            <a:ext cx="1335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PostgreSQL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1755648" y="2084832"/>
            <a:ext cx="2029968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6"/>
          <p:cNvSpPr/>
          <p:nvPr/>
        </p:nvSpPr>
        <p:spPr>
          <a:xfrm>
            <a:off x="1810512" y="2212848"/>
            <a:ext cx="182880" cy="182880"/>
          </a:xfrm>
          <a:prstGeom prst="ellipse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6"/>
          <p:cNvSpPr/>
          <p:nvPr/>
        </p:nvSpPr>
        <p:spPr>
          <a:xfrm>
            <a:off x="2029968" y="2176272"/>
            <a:ext cx="1700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365760" y="2633472"/>
            <a:ext cx="1371600" cy="43891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6"/>
          <p:cNvSpPr/>
          <p:nvPr/>
        </p:nvSpPr>
        <p:spPr>
          <a:xfrm>
            <a:off x="384048" y="2724912"/>
            <a:ext cx="1335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koELECTRA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1755648" y="2633472"/>
            <a:ext cx="2029968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6"/>
          <p:cNvSpPr/>
          <p:nvPr/>
        </p:nvSpPr>
        <p:spPr>
          <a:xfrm>
            <a:off x="1810512" y="2761488"/>
            <a:ext cx="182880" cy="182880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2029968" y="2724912"/>
            <a:ext cx="1700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AI Model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365760" y="3182112"/>
            <a:ext cx="1371600" cy="43891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6"/>
          <p:cNvSpPr/>
          <p:nvPr/>
        </p:nvSpPr>
        <p:spPr>
          <a:xfrm>
            <a:off x="384048" y="3273552"/>
            <a:ext cx="1335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LLM (Gemini)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1755648" y="3182112"/>
            <a:ext cx="2029968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6"/>
          <p:cNvSpPr/>
          <p:nvPr/>
        </p:nvSpPr>
        <p:spPr>
          <a:xfrm>
            <a:off x="1810512" y="3310128"/>
            <a:ext cx="182880" cy="182880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6"/>
          <p:cNvSpPr/>
          <p:nvPr/>
        </p:nvSpPr>
        <p:spPr>
          <a:xfrm>
            <a:off x="2029968" y="3273552"/>
            <a:ext cx="1700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AI Model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365760" y="3730752"/>
            <a:ext cx="1371600" cy="43891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6"/>
          <p:cNvSpPr/>
          <p:nvPr/>
        </p:nvSpPr>
        <p:spPr>
          <a:xfrm>
            <a:off x="384048" y="3822192"/>
            <a:ext cx="1335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React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1755648" y="3730752"/>
            <a:ext cx="2029968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6"/>
          <p:cNvSpPr/>
          <p:nvPr/>
        </p:nvSpPr>
        <p:spPr>
          <a:xfrm>
            <a:off x="1810512" y="3858768"/>
            <a:ext cx="182880" cy="182880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6"/>
          <p:cNvSpPr/>
          <p:nvPr/>
        </p:nvSpPr>
        <p:spPr>
          <a:xfrm>
            <a:off x="2029968" y="3822192"/>
            <a:ext cx="1700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4069080" y="1097280"/>
            <a:ext cx="4709160" cy="347472"/>
          </a:xfrm>
          <a:prstGeom prst="rect">
            <a:avLst/>
          </a:prstGeom>
          <a:solidFill>
            <a:srgbClr val="E8F0FE"/>
          </a:solidFill>
          <a:ln cap="flat" cmpd="sng" w="12700">
            <a:solidFill>
              <a:srgbClr val="D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6"/>
          <p:cNvSpPr/>
          <p:nvPr/>
        </p:nvSpPr>
        <p:spPr>
          <a:xfrm>
            <a:off x="4206240" y="1143000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1B3A6B"/>
                </a:solidFill>
                <a:latin typeface="Arial Black"/>
                <a:ea typeface="Arial Black"/>
                <a:cs typeface="Arial Black"/>
                <a:sym typeface="Arial Black"/>
              </a:rPr>
              <a:t>📚  모델 학습 데이터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4069080" y="1536192"/>
            <a:ext cx="4709160" cy="4297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6"/>
          <p:cNvSpPr/>
          <p:nvPr/>
        </p:nvSpPr>
        <p:spPr>
          <a:xfrm>
            <a:off x="4114800" y="160020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📜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4553712" y="157276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법제처 국가법령정보센터 조항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4553712" y="1755648"/>
            <a:ext cx="4160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근로기준법 전문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4069080" y="2039112"/>
            <a:ext cx="4709160" cy="4297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6"/>
          <p:cNvSpPr/>
          <p:nvPr/>
        </p:nvSpPr>
        <p:spPr>
          <a:xfrm>
            <a:off x="4114800" y="210312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⚖️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4553712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법제처 국가법령정보센터</a:t>
            </a:r>
            <a:r>
              <a:rPr b="1" lang="en-US" sz="1100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 판례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4553712" y="2258568"/>
            <a:ext cx="4160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불공정 조항 관련 실제 판례 수집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4069080" y="2542032"/>
            <a:ext cx="4709160" cy="4297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6"/>
          <p:cNvSpPr/>
          <p:nvPr/>
        </p:nvSpPr>
        <p:spPr>
          <a:xfrm>
            <a:off x="4114800" y="260604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4553712" y="257860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표준 근로계약서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4553712" y="2761488"/>
            <a:ext cx="4160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고용노동부 배포 표준 양식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4069080" y="3044952"/>
            <a:ext cx="4709160" cy="4297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6"/>
          <p:cNvSpPr/>
          <p:nvPr/>
        </p:nvSpPr>
        <p:spPr>
          <a:xfrm>
            <a:off x="4114800" y="310896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4553712" y="308152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독소조항 레이블 데이터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4553712" y="3264408"/>
            <a:ext cx="4160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독소 1,600건 / 표준 1,400건 조항별 정상·독소 분류 데이터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4069080" y="3611880"/>
            <a:ext cx="4709160" cy="347472"/>
          </a:xfrm>
          <a:prstGeom prst="rect">
            <a:avLst/>
          </a:prstGeom>
          <a:solidFill>
            <a:srgbClr val="E8F7F5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6"/>
          <p:cNvSpPr/>
          <p:nvPr/>
        </p:nvSpPr>
        <p:spPr>
          <a:xfrm>
            <a:off x="4206240" y="3657600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🧠  모델 학습 방법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4114800" y="4078224"/>
            <a:ext cx="256032" cy="256032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6"/>
          <p:cNvSpPr/>
          <p:nvPr/>
        </p:nvSpPr>
        <p:spPr>
          <a:xfrm>
            <a:off x="4114800" y="407822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4416540" y="4389092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RoBERTa-base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5833872" y="4069080"/>
            <a:ext cx="288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독소 조항, 표준 조항 데이터셋으로 학습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4114800" y="4398264"/>
            <a:ext cx="256032" cy="256032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6"/>
          <p:cNvSpPr/>
          <p:nvPr/>
        </p:nvSpPr>
        <p:spPr>
          <a:xfrm>
            <a:off x="4114800" y="439826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4402900" y="4037125"/>
            <a:ext cx="139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KoELECTRA-small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5833872" y="438912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한국어 법률 문장 쌍 데이터로 의미 유사도 학습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7"/>
          <p:cNvSpPr/>
          <p:nvPr/>
        </p:nvSpPr>
        <p:spPr>
          <a:xfrm>
            <a:off x="0" y="0"/>
            <a:ext cx="9144000" cy="7131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7"/>
          <p:cNvSpPr/>
          <p:nvPr/>
        </p:nvSpPr>
        <p:spPr>
          <a:xfrm>
            <a:off x="274320" y="45720"/>
            <a:ext cx="5943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🛡️  독소조항 1차 분류 모델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7"/>
          <p:cNvSpPr/>
          <p:nvPr/>
        </p:nvSpPr>
        <p:spPr>
          <a:xfrm>
            <a:off x="320040" y="448056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KoELECTRA-small  |  게이트키퍼(수문장) 전략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6189400" y="82975"/>
            <a:ext cx="2286000" cy="5487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7"/>
          <p:cNvSpPr/>
          <p:nvPr/>
        </p:nvSpPr>
        <p:spPr>
          <a:xfrm>
            <a:off x="6136965" y="99135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F1  0.95  |  Recall  0.94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7"/>
          <p:cNvSpPr/>
          <p:nvPr/>
        </p:nvSpPr>
        <p:spPr>
          <a:xfrm>
            <a:off x="228600" y="804672"/>
            <a:ext cx="2834640" cy="19659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7"/>
          <p:cNvSpPr/>
          <p:nvPr/>
        </p:nvSpPr>
        <p:spPr>
          <a:xfrm>
            <a:off x="228600" y="804672"/>
            <a:ext cx="2834640" cy="3474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7"/>
          <p:cNvSpPr/>
          <p:nvPr/>
        </p:nvSpPr>
        <p:spPr>
          <a:xfrm>
            <a:off x="320040" y="822960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① 왜 KoELECTRA-small?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7"/>
          <p:cNvSpPr/>
          <p:nvPr/>
        </p:nvSpPr>
        <p:spPr>
          <a:xfrm>
            <a:off x="256032" y="1207008"/>
            <a:ext cx="1024128" cy="310896"/>
          </a:xfrm>
          <a:prstGeom prst="rect">
            <a:avLst/>
          </a:prstGeom>
          <a:solidFill>
            <a:srgbClr val="1A4A6B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7"/>
          <p:cNvSpPr/>
          <p:nvPr/>
        </p:nvSpPr>
        <p:spPr>
          <a:xfrm>
            <a:off x="256032" y="1207008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 Black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지표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1298448" y="1207008"/>
            <a:ext cx="841248" cy="310896"/>
          </a:xfrm>
          <a:prstGeom prst="rect">
            <a:avLst/>
          </a:prstGeom>
          <a:solidFill>
            <a:srgbClr val="1A4A6B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7"/>
          <p:cNvSpPr/>
          <p:nvPr/>
        </p:nvSpPr>
        <p:spPr>
          <a:xfrm>
            <a:off x="1298448" y="1207008"/>
            <a:ext cx="841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 Black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KoELECTRA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 Black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-small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7"/>
          <p:cNvSpPr/>
          <p:nvPr/>
        </p:nvSpPr>
        <p:spPr>
          <a:xfrm>
            <a:off x="2157984" y="1207008"/>
            <a:ext cx="877824" cy="310896"/>
          </a:xfrm>
          <a:prstGeom prst="rect">
            <a:avLst/>
          </a:prstGeom>
          <a:solidFill>
            <a:srgbClr val="1A4A6B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7"/>
          <p:cNvSpPr/>
          <p:nvPr/>
        </p:nvSpPr>
        <p:spPr>
          <a:xfrm>
            <a:off x="2157984" y="1207008"/>
            <a:ext cx="8778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 Black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DistilKo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 Black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BERT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256032" y="1536192"/>
            <a:ext cx="1024128" cy="274320"/>
          </a:xfrm>
          <a:prstGeom prst="rect">
            <a:avLst/>
          </a:prstGeom>
          <a:solidFill>
            <a:srgbClr val="EEF4FB"/>
          </a:solidFill>
          <a:ln cap="flat" cmpd="sng" w="9525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7"/>
          <p:cNvSpPr/>
          <p:nvPr/>
        </p:nvSpPr>
        <p:spPr>
          <a:xfrm>
            <a:off x="1298448" y="1536192"/>
            <a:ext cx="841248" cy="274320"/>
          </a:xfrm>
          <a:prstGeom prst="rect">
            <a:avLst/>
          </a:prstGeom>
          <a:solidFill>
            <a:srgbClr val="ECFDF5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7"/>
          <p:cNvSpPr/>
          <p:nvPr/>
        </p:nvSpPr>
        <p:spPr>
          <a:xfrm>
            <a:off x="2157984" y="1536192"/>
            <a:ext cx="877824" cy="274320"/>
          </a:xfrm>
          <a:prstGeom prst="rect">
            <a:avLst/>
          </a:prstGeom>
          <a:solidFill>
            <a:srgbClr val="EEF4FB"/>
          </a:solidFill>
          <a:ln cap="flat" cmpd="sng" w="9525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7"/>
          <p:cNvSpPr/>
          <p:nvPr/>
        </p:nvSpPr>
        <p:spPr>
          <a:xfrm>
            <a:off x="274320" y="1572768"/>
            <a:ext cx="9875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모델 용량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7"/>
          <p:cNvSpPr/>
          <p:nvPr/>
        </p:nvSpPr>
        <p:spPr>
          <a:xfrm>
            <a:off x="1316736" y="1572768"/>
            <a:ext cx="8046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60MB 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2176272" y="1572768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108MB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7"/>
          <p:cNvSpPr/>
          <p:nvPr/>
        </p:nvSpPr>
        <p:spPr>
          <a:xfrm>
            <a:off x="256032" y="1828800"/>
            <a:ext cx="1024128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7"/>
          <p:cNvSpPr/>
          <p:nvPr/>
        </p:nvSpPr>
        <p:spPr>
          <a:xfrm>
            <a:off x="1298448" y="1828800"/>
            <a:ext cx="841248" cy="274320"/>
          </a:xfrm>
          <a:prstGeom prst="rect">
            <a:avLst/>
          </a:prstGeom>
          <a:solidFill>
            <a:srgbClr val="ECFDF5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7"/>
          <p:cNvSpPr/>
          <p:nvPr/>
        </p:nvSpPr>
        <p:spPr>
          <a:xfrm>
            <a:off x="2157984" y="1828800"/>
            <a:ext cx="877824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7"/>
          <p:cNvSpPr/>
          <p:nvPr/>
        </p:nvSpPr>
        <p:spPr>
          <a:xfrm>
            <a:off x="274320" y="1865376"/>
            <a:ext cx="9875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추론 속도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/>
          <p:nvPr/>
        </p:nvSpPr>
        <p:spPr>
          <a:xfrm>
            <a:off x="1316736" y="1865376"/>
            <a:ext cx="8046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~5ms 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7"/>
          <p:cNvSpPr/>
          <p:nvPr/>
        </p:nvSpPr>
        <p:spPr>
          <a:xfrm>
            <a:off x="2176272" y="1865376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~9ms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7"/>
          <p:cNvSpPr/>
          <p:nvPr/>
        </p:nvSpPr>
        <p:spPr>
          <a:xfrm>
            <a:off x="256032" y="2121408"/>
            <a:ext cx="1024128" cy="274320"/>
          </a:xfrm>
          <a:prstGeom prst="rect">
            <a:avLst/>
          </a:prstGeom>
          <a:solidFill>
            <a:srgbClr val="EEF4FB"/>
          </a:solidFill>
          <a:ln cap="flat" cmpd="sng" w="9525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7"/>
          <p:cNvSpPr/>
          <p:nvPr/>
        </p:nvSpPr>
        <p:spPr>
          <a:xfrm>
            <a:off x="1298448" y="2121408"/>
            <a:ext cx="841248" cy="274320"/>
          </a:xfrm>
          <a:prstGeom prst="rect">
            <a:avLst/>
          </a:prstGeom>
          <a:solidFill>
            <a:srgbClr val="ECFDF5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7"/>
          <p:cNvSpPr/>
          <p:nvPr/>
        </p:nvSpPr>
        <p:spPr>
          <a:xfrm>
            <a:off x="2157984" y="2121408"/>
            <a:ext cx="877824" cy="274320"/>
          </a:xfrm>
          <a:prstGeom prst="rect">
            <a:avLst/>
          </a:prstGeom>
          <a:solidFill>
            <a:srgbClr val="EEF4FB"/>
          </a:solidFill>
          <a:ln cap="flat" cmpd="sng" w="9525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7"/>
          <p:cNvSpPr/>
          <p:nvPr/>
        </p:nvSpPr>
        <p:spPr>
          <a:xfrm>
            <a:off x="274320" y="2157984"/>
            <a:ext cx="9875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7"/>
          <p:cNvSpPr/>
          <p:nvPr/>
        </p:nvSpPr>
        <p:spPr>
          <a:xfrm>
            <a:off x="1316736" y="2157984"/>
            <a:ext cx="8046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0.847 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7"/>
          <p:cNvSpPr/>
          <p:nvPr/>
        </p:nvSpPr>
        <p:spPr>
          <a:xfrm>
            <a:off x="2176272" y="2157984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0.821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7"/>
          <p:cNvSpPr/>
          <p:nvPr/>
        </p:nvSpPr>
        <p:spPr>
          <a:xfrm>
            <a:off x="256032" y="2414016"/>
            <a:ext cx="1024128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7"/>
          <p:cNvSpPr/>
          <p:nvPr/>
        </p:nvSpPr>
        <p:spPr>
          <a:xfrm>
            <a:off x="1298448" y="2414016"/>
            <a:ext cx="841248" cy="274320"/>
          </a:xfrm>
          <a:prstGeom prst="rect">
            <a:avLst/>
          </a:prstGeom>
          <a:solidFill>
            <a:srgbClr val="ECFDF5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7"/>
          <p:cNvSpPr/>
          <p:nvPr/>
        </p:nvSpPr>
        <p:spPr>
          <a:xfrm>
            <a:off x="2157984" y="2414016"/>
            <a:ext cx="877824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7"/>
          <p:cNvSpPr/>
          <p:nvPr/>
        </p:nvSpPr>
        <p:spPr>
          <a:xfrm>
            <a:off x="274320" y="2450592"/>
            <a:ext cx="9875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/>
          <p:nvPr/>
        </p:nvSpPr>
        <p:spPr>
          <a:xfrm>
            <a:off x="1316736" y="2450592"/>
            <a:ext cx="8046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0.86 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2176272" y="2450592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0.79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256032" y="2450592"/>
            <a:ext cx="2743200" cy="256032"/>
          </a:xfrm>
          <a:prstGeom prst="rect">
            <a:avLst/>
          </a:prstGeom>
          <a:solidFill>
            <a:srgbClr val="1A4A6B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7"/>
          <p:cNvSpPr/>
          <p:nvPr/>
        </p:nvSpPr>
        <p:spPr>
          <a:xfrm>
            <a:off x="292608" y="2450592"/>
            <a:ext cx="27066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→  수문장은 가볍고 민감해야 한다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3246120" y="804672"/>
            <a:ext cx="5669280" cy="19659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290319950" rotWithShape="0" algn="bl" dist="483870000">
              <a:srgbClr val="000000">
                <a:alpha val="9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7"/>
          <p:cNvSpPr/>
          <p:nvPr/>
        </p:nvSpPr>
        <p:spPr>
          <a:xfrm>
            <a:off x="3246120" y="804672"/>
            <a:ext cx="5669280" cy="34747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7"/>
          <p:cNvSpPr/>
          <p:nvPr/>
        </p:nvSpPr>
        <p:spPr>
          <a:xfrm>
            <a:off x="3337560" y="822960"/>
            <a:ext cx="5440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② 자율 학습 루프  &amp;  과적합 방지 6중 안전장치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3364992" y="1225296"/>
            <a:ext cx="841248" cy="502920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7"/>
          <p:cNvSpPr/>
          <p:nvPr/>
        </p:nvSpPr>
        <p:spPr>
          <a:xfrm>
            <a:off x="3383280" y="1234440"/>
            <a:ext cx="8046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50"/>
              <a:buFont typeface="Arial Black"/>
              <a:buNone/>
            </a:pPr>
            <a:r>
              <a:rPr b="1" i="0" lang="en-US" sz="850" u="none" cap="none" strike="noStrike">
                <a:solidFill>
                  <a:srgbClr val="7C3AED"/>
                </a:solidFill>
                <a:latin typeface="Arial Black"/>
                <a:ea typeface="Arial Black"/>
                <a:cs typeface="Arial Black"/>
                <a:sym typeface="Arial Black"/>
              </a:rPr>
              <a:t>학습 데이터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50"/>
              <a:buFont typeface="Arial Black"/>
              <a:buNone/>
            </a:pPr>
            <a:r>
              <a:rPr b="1" i="0" lang="en-US" sz="850" u="none" cap="none" strike="noStrike">
                <a:solidFill>
                  <a:srgbClr val="7C3AED"/>
                </a:solidFill>
                <a:latin typeface="Arial Black"/>
                <a:ea typeface="Arial Black"/>
                <a:cs typeface="Arial Black"/>
                <a:sym typeface="Arial Black"/>
              </a:rPr>
              <a:t>(3,</a:t>
            </a:r>
            <a:r>
              <a:rPr b="1" lang="en-US" sz="850">
                <a:solidFill>
                  <a:srgbClr val="7C3AED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i="0" lang="en-US" sz="850" u="none" cap="none" strike="noStrike">
                <a:solidFill>
                  <a:srgbClr val="7C3AED"/>
                </a:solidFill>
                <a:latin typeface="Arial Black"/>
                <a:ea typeface="Arial Black"/>
                <a:cs typeface="Arial Black"/>
                <a:sym typeface="Arial Black"/>
              </a:rPr>
              <a:t>00건)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7"/>
          <p:cNvSpPr/>
          <p:nvPr/>
        </p:nvSpPr>
        <p:spPr>
          <a:xfrm>
            <a:off x="4206240" y="1353312"/>
            <a:ext cx="1645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7"/>
          <p:cNvSpPr/>
          <p:nvPr/>
        </p:nvSpPr>
        <p:spPr>
          <a:xfrm>
            <a:off x="4370832" y="1225296"/>
            <a:ext cx="841248" cy="502920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7"/>
          <p:cNvSpPr/>
          <p:nvPr/>
        </p:nvSpPr>
        <p:spPr>
          <a:xfrm>
            <a:off x="4389120" y="1234440"/>
            <a:ext cx="8046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50"/>
              <a:buFont typeface="Arial Black"/>
              <a:buNone/>
            </a:pPr>
            <a:r>
              <a:rPr b="1" i="0" lang="en-US" sz="850" u="none" cap="none" strike="noStrike">
                <a:solidFill>
                  <a:srgbClr val="7C3AED"/>
                </a:solidFill>
                <a:latin typeface="Arial Black"/>
                <a:ea typeface="Arial Black"/>
                <a:cs typeface="Arial Black"/>
                <a:sym typeface="Arial Black"/>
              </a:rPr>
              <a:t>모델 학습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7"/>
          <p:cNvSpPr/>
          <p:nvPr/>
        </p:nvSpPr>
        <p:spPr>
          <a:xfrm>
            <a:off x="5212080" y="1353312"/>
            <a:ext cx="1645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7"/>
          <p:cNvSpPr/>
          <p:nvPr/>
        </p:nvSpPr>
        <p:spPr>
          <a:xfrm>
            <a:off x="5376672" y="1225296"/>
            <a:ext cx="841248" cy="502920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7"/>
          <p:cNvSpPr/>
          <p:nvPr/>
        </p:nvSpPr>
        <p:spPr>
          <a:xfrm>
            <a:off x="5394960" y="1234440"/>
            <a:ext cx="8046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50"/>
              <a:buFont typeface="Arial Black"/>
              <a:buNone/>
            </a:pPr>
            <a:r>
              <a:rPr b="1" i="0" lang="en-US" sz="850" u="none" cap="none" strike="noStrike">
                <a:solidFill>
                  <a:srgbClr val="7C3AED"/>
                </a:solidFill>
                <a:latin typeface="Arial Black"/>
                <a:ea typeface="Arial Black"/>
                <a:cs typeface="Arial Black"/>
                <a:sym typeface="Arial Black"/>
              </a:rPr>
              <a:t>dev 오답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50"/>
              <a:buFont typeface="Arial Black"/>
              <a:buNone/>
            </a:pPr>
            <a:r>
              <a:rPr b="1" i="0" lang="en-US" sz="850" u="none" cap="none" strike="noStrike">
                <a:solidFill>
                  <a:srgbClr val="7C3AED"/>
                </a:solidFill>
                <a:latin typeface="Arial Black"/>
                <a:ea typeface="Arial Black"/>
                <a:cs typeface="Arial Black"/>
                <a:sym typeface="Arial Black"/>
              </a:rPr>
              <a:t>추출·분석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7"/>
          <p:cNvSpPr/>
          <p:nvPr/>
        </p:nvSpPr>
        <p:spPr>
          <a:xfrm>
            <a:off x="6217920" y="1353312"/>
            <a:ext cx="1645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7"/>
          <p:cNvSpPr/>
          <p:nvPr/>
        </p:nvSpPr>
        <p:spPr>
          <a:xfrm>
            <a:off x="6382512" y="1225296"/>
            <a:ext cx="841248" cy="502920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7"/>
          <p:cNvSpPr/>
          <p:nvPr/>
        </p:nvSpPr>
        <p:spPr>
          <a:xfrm>
            <a:off x="6400800" y="1234440"/>
            <a:ext cx="8046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50"/>
              <a:buFont typeface="Arial Black"/>
              <a:buNone/>
            </a:pPr>
            <a:r>
              <a:rPr b="1" i="0" lang="en-US" sz="850" u="none" cap="none" strike="noStrike">
                <a:solidFill>
                  <a:srgbClr val="7C3AED"/>
                </a:solidFill>
                <a:latin typeface="Arial Black"/>
                <a:ea typeface="Arial Black"/>
                <a:cs typeface="Arial Black"/>
                <a:sym typeface="Arial Black"/>
              </a:rPr>
              <a:t>Gemini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50"/>
              <a:buFont typeface="Arial Black"/>
              <a:buNone/>
            </a:pPr>
            <a:r>
              <a:rPr b="1" i="0" lang="en-US" sz="850" u="none" cap="none" strike="noStrike">
                <a:solidFill>
                  <a:srgbClr val="7C3AED"/>
                </a:solidFill>
                <a:latin typeface="Arial Black"/>
                <a:ea typeface="Arial Black"/>
                <a:cs typeface="Arial Black"/>
                <a:sym typeface="Arial Black"/>
              </a:rPr>
              <a:t>약점 데이터 생성</a:t>
            </a:r>
            <a:br>
              <a:rPr b="1" i="0" lang="en-US" sz="850" u="none" cap="none" strike="noStrike">
                <a:solidFill>
                  <a:srgbClr val="7C3AED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lang="en-US" sz="850">
                <a:solidFill>
                  <a:srgbClr val="7C3AED"/>
                </a:solidFill>
                <a:latin typeface="Arial Black"/>
                <a:ea typeface="Arial Black"/>
                <a:cs typeface="Arial Black"/>
                <a:sym typeface="Arial Black"/>
              </a:rPr>
              <a:t>(300건)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7"/>
          <p:cNvSpPr/>
          <p:nvPr/>
        </p:nvSpPr>
        <p:spPr>
          <a:xfrm>
            <a:off x="7223760" y="1353312"/>
            <a:ext cx="1645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7"/>
          <p:cNvSpPr/>
          <p:nvPr/>
        </p:nvSpPr>
        <p:spPr>
          <a:xfrm>
            <a:off x="7388352" y="1225296"/>
            <a:ext cx="841248" cy="502920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7"/>
          <p:cNvSpPr/>
          <p:nvPr/>
        </p:nvSpPr>
        <p:spPr>
          <a:xfrm>
            <a:off x="7406640" y="1234440"/>
            <a:ext cx="8046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50"/>
              <a:buFont typeface="Arial Black"/>
              <a:buNone/>
            </a:pPr>
            <a:r>
              <a:rPr b="1" i="0" lang="en-US" sz="850" u="none" cap="none" strike="noStrike">
                <a:solidFill>
                  <a:srgbClr val="7C3AED"/>
                </a:solidFill>
                <a:latin typeface="Arial Black"/>
                <a:ea typeface="Arial Black"/>
                <a:cs typeface="Arial Black"/>
                <a:sym typeface="Arial Black"/>
              </a:rPr>
              <a:t>풀에 추가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7"/>
          <p:cNvSpPr/>
          <p:nvPr/>
        </p:nvSpPr>
        <p:spPr>
          <a:xfrm>
            <a:off x="7223760" y="1874520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↺ 반복(30 epoch)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7"/>
          <p:cNvSpPr/>
          <p:nvPr/>
        </p:nvSpPr>
        <p:spPr>
          <a:xfrm>
            <a:off x="3337560" y="1892808"/>
            <a:ext cx="1737360" cy="365760"/>
          </a:xfrm>
          <a:prstGeom prst="rect">
            <a:avLst/>
          </a:prstGeom>
          <a:solidFill>
            <a:srgbClr val="F5F3FF"/>
          </a:solidFill>
          <a:ln cap="flat" cmpd="sng" w="101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7"/>
          <p:cNvSpPr/>
          <p:nvPr/>
        </p:nvSpPr>
        <p:spPr>
          <a:xfrm>
            <a:off x="3392424" y="1984248"/>
            <a:ext cx="201168" cy="201168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7"/>
          <p:cNvSpPr/>
          <p:nvPr/>
        </p:nvSpPr>
        <p:spPr>
          <a:xfrm>
            <a:off x="3392424" y="198424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7"/>
          <p:cNvSpPr/>
          <p:nvPr/>
        </p:nvSpPr>
        <p:spPr>
          <a:xfrm>
            <a:off x="3639312" y="1920240"/>
            <a:ext cx="138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 Black"/>
              <a:buNone/>
            </a:pPr>
            <a:r>
              <a:rPr b="1" lang="en-US" sz="900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최종 시험지</a:t>
            </a:r>
            <a:r>
              <a:rPr b="1" i="0" lang="en-US" sz="9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n-US" sz="900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봉인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7"/>
          <p:cNvSpPr/>
          <p:nvPr/>
        </p:nvSpPr>
        <p:spPr>
          <a:xfrm>
            <a:off x="3639312" y="2093976"/>
            <a:ext cx="13898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학습 종료 후 단 1회만 개봉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7"/>
          <p:cNvSpPr/>
          <p:nvPr/>
        </p:nvSpPr>
        <p:spPr>
          <a:xfrm>
            <a:off x="5184648" y="1892808"/>
            <a:ext cx="1737360" cy="365760"/>
          </a:xfrm>
          <a:prstGeom prst="rect">
            <a:avLst/>
          </a:prstGeom>
          <a:solidFill>
            <a:srgbClr val="F5F3FF"/>
          </a:solidFill>
          <a:ln cap="flat" cmpd="sng" w="101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7"/>
          <p:cNvSpPr/>
          <p:nvPr/>
        </p:nvSpPr>
        <p:spPr>
          <a:xfrm>
            <a:off x="5239512" y="1984248"/>
            <a:ext cx="201168" cy="201168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7"/>
          <p:cNvSpPr/>
          <p:nvPr/>
        </p:nvSpPr>
        <p:spPr>
          <a:xfrm>
            <a:off x="5239512" y="198424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7"/>
          <p:cNvSpPr/>
          <p:nvPr/>
        </p:nvSpPr>
        <p:spPr>
          <a:xfrm>
            <a:off x="5486400" y="1920240"/>
            <a:ext cx="13898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 Black"/>
              <a:buNone/>
            </a:pPr>
            <a:r>
              <a:rPr b="1" lang="en-US" sz="900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복사본 데이터 2중 필터링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7"/>
          <p:cNvSpPr/>
          <p:nvPr/>
        </p:nvSpPr>
        <p:spPr>
          <a:xfrm>
            <a:off x="5486400" y="2093976"/>
            <a:ext cx="13898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똑같은 문장 </a:t>
            </a: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비슷한 문장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7"/>
          <p:cNvSpPr/>
          <p:nvPr/>
        </p:nvSpPr>
        <p:spPr>
          <a:xfrm>
            <a:off x="7031736" y="1892808"/>
            <a:ext cx="1737360" cy="365760"/>
          </a:xfrm>
          <a:prstGeom prst="rect">
            <a:avLst/>
          </a:prstGeom>
          <a:solidFill>
            <a:srgbClr val="F5F3FF"/>
          </a:solidFill>
          <a:ln cap="flat" cmpd="sng" w="101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7"/>
          <p:cNvSpPr/>
          <p:nvPr/>
        </p:nvSpPr>
        <p:spPr>
          <a:xfrm>
            <a:off x="7086600" y="1984248"/>
            <a:ext cx="201168" cy="201168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7"/>
          <p:cNvSpPr/>
          <p:nvPr/>
        </p:nvSpPr>
        <p:spPr>
          <a:xfrm>
            <a:off x="7086600" y="198424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7"/>
          <p:cNvSpPr/>
          <p:nvPr/>
        </p:nvSpPr>
        <p:spPr>
          <a:xfrm>
            <a:off x="7333488" y="1920240"/>
            <a:ext cx="13898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Early Stopping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7"/>
          <p:cNvSpPr/>
          <p:nvPr/>
        </p:nvSpPr>
        <p:spPr>
          <a:xfrm>
            <a:off x="7333488" y="2093976"/>
            <a:ext cx="13898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patience 15 자동 종료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7"/>
          <p:cNvSpPr/>
          <p:nvPr/>
        </p:nvSpPr>
        <p:spPr>
          <a:xfrm>
            <a:off x="3337560" y="2313432"/>
            <a:ext cx="1737360" cy="365760"/>
          </a:xfrm>
          <a:prstGeom prst="rect">
            <a:avLst/>
          </a:prstGeom>
          <a:solidFill>
            <a:srgbClr val="F5F3FF"/>
          </a:solidFill>
          <a:ln cap="flat" cmpd="sng" w="101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7"/>
          <p:cNvSpPr/>
          <p:nvPr/>
        </p:nvSpPr>
        <p:spPr>
          <a:xfrm>
            <a:off x="3392424" y="2404872"/>
            <a:ext cx="201168" cy="201168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7"/>
          <p:cNvSpPr/>
          <p:nvPr/>
        </p:nvSpPr>
        <p:spPr>
          <a:xfrm>
            <a:off x="3392424" y="240487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7"/>
          <p:cNvSpPr/>
          <p:nvPr/>
        </p:nvSpPr>
        <p:spPr>
          <a:xfrm>
            <a:off x="3639312" y="2340864"/>
            <a:ext cx="13898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다층 정규화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7"/>
          <p:cNvSpPr/>
          <p:nvPr/>
        </p:nvSpPr>
        <p:spPr>
          <a:xfrm>
            <a:off x="3639312" y="2514600"/>
            <a:ext cx="13898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Dropout·LS·WD·Clip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7"/>
          <p:cNvSpPr/>
          <p:nvPr/>
        </p:nvSpPr>
        <p:spPr>
          <a:xfrm>
            <a:off x="5184648" y="2313432"/>
            <a:ext cx="1737360" cy="365760"/>
          </a:xfrm>
          <a:prstGeom prst="rect">
            <a:avLst/>
          </a:prstGeom>
          <a:solidFill>
            <a:srgbClr val="F5F3FF"/>
          </a:solidFill>
          <a:ln cap="flat" cmpd="sng" w="101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7"/>
          <p:cNvSpPr/>
          <p:nvPr/>
        </p:nvSpPr>
        <p:spPr>
          <a:xfrm>
            <a:off x="5239512" y="2404872"/>
            <a:ext cx="201168" cy="201168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7"/>
          <p:cNvSpPr/>
          <p:nvPr/>
        </p:nvSpPr>
        <p:spPr>
          <a:xfrm>
            <a:off x="5239512" y="240487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⑤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7"/>
          <p:cNvSpPr/>
          <p:nvPr/>
        </p:nvSpPr>
        <p:spPr>
          <a:xfrm>
            <a:off x="5486400" y="2340864"/>
            <a:ext cx="13898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Best 모델만 보존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7"/>
          <p:cNvSpPr/>
          <p:nvPr/>
        </p:nvSpPr>
        <p:spPr>
          <a:xfrm>
            <a:off x="5486400" y="2514600"/>
            <a:ext cx="13898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중간 저장 안전장치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7"/>
          <p:cNvSpPr/>
          <p:nvPr/>
        </p:nvSpPr>
        <p:spPr>
          <a:xfrm>
            <a:off x="7031736" y="2313432"/>
            <a:ext cx="1737360" cy="365760"/>
          </a:xfrm>
          <a:prstGeom prst="rect">
            <a:avLst/>
          </a:prstGeom>
          <a:solidFill>
            <a:srgbClr val="F5F3FF"/>
          </a:solidFill>
          <a:ln cap="flat" cmpd="sng" w="101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7"/>
          <p:cNvSpPr/>
          <p:nvPr/>
        </p:nvSpPr>
        <p:spPr>
          <a:xfrm>
            <a:off x="7086600" y="2404872"/>
            <a:ext cx="201168" cy="201168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7"/>
          <p:cNvSpPr/>
          <p:nvPr/>
        </p:nvSpPr>
        <p:spPr>
          <a:xfrm>
            <a:off x="7086600" y="240487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⑥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7"/>
          <p:cNvSpPr/>
          <p:nvPr/>
        </p:nvSpPr>
        <p:spPr>
          <a:xfrm>
            <a:off x="7333488" y="2340864"/>
            <a:ext cx="13898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하위 레이어 동결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7"/>
          <p:cNvSpPr/>
          <p:nvPr/>
        </p:nvSpPr>
        <p:spPr>
          <a:xfrm>
            <a:off x="7333488" y="2514600"/>
            <a:ext cx="13898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사전학습 지능 보존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7"/>
          <p:cNvSpPr/>
          <p:nvPr/>
        </p:nvSpPr>
        <p:spPr>
          <a:xfrm>
            <a:off x="228600" y="2907792"/>
            <a:ext cx="8686800" cy="1938528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6387064250000" rotWithShape="0" algn="bl" dist="-949200576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7"/>
          <p:cNvSpPr/>
          <p:nvPr/>
        </p:nvSpPr>
        <p:spPr>
          <a:xfrm>
            <a:off x="228600" y="2907792"/>
            <a:ext cx="8686800" cy="32918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7"/>
          <p:cNvSpPr/>
          <p:nvPr/>
        </p:nvSpPr>
        <p:spPr>
          <a:xfrm>
            <a:off x="347472" y="2926080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③ 성능 결산  —  자율 학습으로 Recall +30%p 달성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7"/>
          <p:cNvSpPr/>
          <p:nvPr/>
        </p:nvSpPr>
        <p:spPr>
          <a:xfrm>
            <a:off x="347472" y="3310128"/>
            <a:ext cx="1828800" cy="1426464"/>
          </a:xfrm>
          <a:prstGeom prst="rect">
            <a:avLst/>
          </a:prstGeom>
          <a:solidFill>
            <a:srgbClr val="ECFDF5"/>
          </a:solidFill>
          <a:ln cap="flat" cmpd="sng" w="152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208115700000000000" rotWithShape="0" algn="bl" dist="1125884672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7"/>
          <p:cNvSpPr/>
          <p:nvPr/>
        </p:nvSpPr>
        <p:spPr>
          <a:xfrm>
            <a:off x="347472" y="334670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🏆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7"/>
          <p:cNvSpPr/>
          <p:nvPr/>
        </p:nvSpPr>
        <p:spPr>
          <a:xfrm>
            <a:off x="347472" y="3712464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0B981"/>
                </a:solidFill>
                <a:latin typeface="Arial Black"/>
                <a:ea typeface="Arial Black"/>
                <a:cs typeface="Arial Black"/>
                <a:sym typeface="Arial Black"/>
              </a:rPr>
              <a:t>0.95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7"/>
          <p:cNvSpPr/>
          <p:nvPr/>
        </p:nvSpPr>
        <p:spPr>
          <a:xfrm>
            <a:off x="393192" y="4224528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F1-Score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7"/>
          <p:cNvSpPr/>
          <p:nvPr/>
        </p:nvSpPr>
        <p:spPr>
          <a:xfrm>
            <a:off x="393192" y="4453128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최종 종합 성능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2359152" y="3310128"/>
            <a:ext cx="1828800" cy="1426464"/>
          </a:xfrm>
          <a:prstGeom prst="rect">
            <a:avLst/>
          </a:prstGeom>
          <a:solidFill>
            <a:srgbClr val="ECFDF5"/>
          </a:solidFill>
          <a:ln cap="flat" cmpd="sng" w="152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7"/>
          <p:cNvSpPr/>
          <p:nvPr/>
        </p:nvSpPr>
        <p:spPr>
          <a:xfrm>
            <a:off x="2359152" y="334670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7"/>
          <p:cNvSpPr/>
          <p:nvPr/>
        </p:nvSpPr>
        <p:spPr>
          <a:xfrm>
            <a:off x="2359152" y="3712464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0B981"/>
                </a:solidFill>
                <a:latin typeface="Arial Black"/>
                <a:ea typeface="Arial Black"/>
                <a:cs typeface="Arial Black"/>
                <a:sym typeface="Arial Black"/>
              </a:rPr>
              <a:t>0.94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7"/>
          <p:cNvSpPr/>
          <p:nvPr/>
        </p:nvSpPr>
        <p:spPr>
          <a:xfrm>
            <a:off x="2404872" y="4224528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Recall (재현율)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7"/>
          <p:cNvSpPr/>
          <p:nvPr/>
        </p:nvSpPr>
        <p:spPr>
          <a:xfrm>
            <a:off x="2404872" y="4453128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독소 놓침 최소화 핵심 지표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7"/>
          <p:cNvSpPr/>
          <p:nvPr/>
        </p:nvSpPr>
        <p:spPr>
          <a:xfrm>
            <a:off x="4370832" y="3310128"/>
            <a:ext cx="1828800" cy="1426464"/>
          </a:xfrm>
          <a:prstGeom prst="rect">
            <a:avLst/>
          </a:prstGeom>
          <a:solidFill>
            <a:srgbClr val="ECFDF5"/>
          </a:solidFill>
          <a:ln cap="flat" cmpd="sng" w="152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7"/>
          <p:cNvSpPr/>
          <p:nvPr/>
        </p:nvSpPr>
        <p:spPr>
          <a:xfrm>
            <a:off x="4370832" y="334670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7"/>
          <p:cNvSpPr/>
          <p:nvPr/>
        </p:nvSpPr>
        <p:spPr>
          <a:xfrm>
            <a:off x="4370832" y="3712464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0B981"/>
                </a:solidFill>
                <a:latin typeface="Arial Black"/>
                <a:ea typeface="Arial Black"/>
                <a:cs typeface="Arial Black"/>
                <a:sym typeface="Arial Black"/>
              </a:rPr>
              <a:t>60MB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7"/>
          <p:cNvSpPr/>
          <p:nvPr/>
        </p:nvSpPr>
        <p:spPr>
          <a:xfrm>
            <a:off x="4416552" y="4224528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모델 용량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7"/>
          <p:cNvSpPr/>
          <p:nvPr/>
        </p:nvSpPr>
        <p:spPr>
          <a:xfrm>
            <a:off x="4416552" y="4453128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경량 · 5ms 초고속 추론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7"/>
          <p:cNvSpPr/>
          <p:nvPr/>
        </p:nvSpPr>
        <p:spPr>
          <a:xfrm>
            <a:off x="6400800" y="3273552"/>
            <a:ext cx="2377440" cy="1499616"/>
          </a:xfrm>
          <a:prstGeom prst="rect">
            <a:avLst/>
          </a:prstGeom>
          <a:solidFill>
            <a:srgbClr val="F0FFF8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7"/>
          <p:cNvSpPr/>
          <p:nvPr/>
        </p:nvSpPr>
        <p:spPr>
          <a:xfrm>
            <a:off x="6446520" y="329184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Arial Black"/>
                <a:ea typeface="Arial Black"/>
                <a:cs typeface="Arial Black"/>
                <a:sym typeface="Arial Black"/>
              </a:rPr>
              <a:t>1차 학습 → 최종 개선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7"/>
          <p:cNvSpPr/>
          <p:nvPr/>
        </p:nvSpPr>
        <p:spPr>
          <a:xfrm>
            <a:off x="6446520" y="3584448"/>
            <a:ext cx="658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 Black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F1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7"/>
          <p:cNvSpPr/>
          <p:nvPr/>
        </p:nvSpPr>
        <p:spPr>
          <a:xfrm>
            <a:off x="7123176" y="3584448"/>
            <a:ext cx="475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0.694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7"/>
          <p:cNvSpPr/>
          <p:nvPr/>
        </p:nvSpPr>
        <p:spPr>
          <a:xfrm>
            <a:off x="7616952" y="3584448"/>
            <a:ext cx="182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7"/>
          <p:cNvSpPr/>
          <p:nvPr/>
        </p:nvSpPr>
        <p:spPr>
          <a:xfrm>
            <a:off x="7818120" y="3584448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0.954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7"/>
          <p:cNvSpPr/>
          <p:nvPr/>
        </p:nvSpPr>
        <p:spPr>
          <a:xfrm>
            <a:off x="8266176" y="3639312"/>
            <a:ext cx="457200" cy="21945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7"/>
          <p:cNvSpPr/>
          <p:nvPr/>
        </p:nvSpPr>
        <p:spPr>
          <a:xfrm>
            <a:off x="8266176" y="363931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+0.26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7"/>
          <p:cNvSpPr/>
          <p:nvPr/>
        </p:nvSpPr>
        <p:spPr>
          <a:xfrm>
            <a:off x="6446520" y="3968496"/>
            <a:ext cx="658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 Black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Recall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7"/>
          <p:cNvSpPr/>
          <p:nvPr/>
        </p:nvSpPr>
        <p:spPr>
          <a:xfrm>
            <a:off x="7123176" y="3968496"/>
            <a:ext cx="475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0.637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7"/>
          <p:cNvSpPr/>
          <p:nvPr/>
        </p:nvSpPr>
        <p:spPr>
          <a:xfrm>
            <a:off x="7616952" y="3968496"/>
            <a:ext cx="182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7"/>
          <p:cNvSpPr/>
          <p:nvPr/>
        </p:nvSpPr>
        <p:spPr>
          <a:xfrm>
            <a:off x="7818120" y="3968496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0.942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7"/>
          <p:cNvSpPr/>
          <p:nvPr/>
        </p:nvSpPr>
        <p:spPr>
          <a:xfrm>
            <a:off x="8266176" y="4023360"/>
            <a:ext cx="457200" cy="21945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7"/>
          <p:cNvSpPr/>
          <p:nvPr/>
        </p:nvSpPr>
        <p:spPr>
          <a:xfrm>
            <a:off x="8266176" y="4023360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+0.305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7"/>
          <p:cNvSpPr/>
          <p:nvPr/>
        </p:nvSpPr>
        <p:spPr>
          <a:xfrm>
            <a:off x="6446520" y="4352544"/>
            <a:ext cx="658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 Black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Precision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7"/>
          <p:cNvSpPr/>
          <p:nvPr/>
        </p:nvSpPr>
        <p:spPr>
          <a:xfrm>
            <a:off x="7123176" y="4352544"/>
            <a:ext cx="475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0.762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7"/>
          <p:cNvSpPr/>
          <p:nvPr/>
        </p:nvSpPr>
        <p:spPr>
          <a:xfrm>
            <a:off x="7616952" y="4352544"/>
            <a:ext cx="182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7"/>
          <p:cNvSpPr/>
          <p:nvPr/>
        </p:nvSpPr>
        <p:spPr>
          <a:xfrm>
            <a:off x="7818120" y="4352544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0.951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7"/>
          <p:cNvSpPr/>
          <p:nvPr/>
        </p:nvSpPr>
        <p:spPr>
          <a:xfrm>
            <a:off x="8266176" y="4407408"/>
            <a:ext cx="457200" cy="21945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7"/>
          <p:cNvSpPr/>
          <p:nvPr/>
        </p:nvSpPr>
        <p:spPr>
          <a:xfrm>
            <a:off x="8266176" y="4407408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+0.189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8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40AF"/>
          </a:solidFill>
          <a:ln cap="flat" cmpd="sng" w="12700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8"/>
          <p:cNvSpPr/>
          <p:nvPr/>
        </p:nvSpPr>
        <p:spPr>
          <a:xfrm>
            <a:off x="274320" y="45720"/>
            <a:ext cx="6217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⚖️  Cross-Encoder 정밀 매칭 모델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8"/>
          <p:cNvSpPr/>
          <p:nvPr/>
        </p:nvSpPr>
        <p:spPr>
          <a:xfrm>
            <a:off x="320040" y="448056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klue/roberta-base  |  판사(Judge) 전략  —  환각 없는 법률 리포트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8"/>
          <p:cNvSpPr/>
          <p:nvPr/>
        </p:nvSpPr>
        <p:spPr>
          <a:xfrm>
            <a:off x="6528900" y="73150"/>
            <a:ext cx="2340900" cy="5487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8"/>
          <p:cNvSpPr/>
          <p:nvPr/>
        </p:nvSpPr>
        <p:spPr>
          <a:xfrm>
            <a:off x="6529984" y="99160"/>
            <a:ext cx="234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 Black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F1  0.93  |  Precision  0.95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8"/>
          <p:cNvSpPr/>
          <p:nvPr/>
        </p:nvSpPr>
        <p:spPr>
          <a:xfrm>
            <a:off x="228600" y="804672"/>
            <a:ext cx="2834640" cy="2057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8"/>
          <p:cNvSpPr/>
          <p:nvPr/>
        </p:nvSpPr>
        <p:spPr>
          <a:xfrm>
            <a:off x="228600" y="804672"/>
            <a:ext cx="2834640" cy="34747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8"/>
          <p:cNvSpPr/>
          <p:nvPr/>
        </p:nvSpPr>
        <p:spPr>
          <a:xfrm>
            <a:off x="320040" y="822960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① 왜 RoBERTa-base? (판사 선정)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8"/>
          <p:cNvSpPr/>
          <p:nvPr/>
        </p:nvSpPr>
        <p:spPr>
          <a:xfrm>
            <a:off x="256032" y="1207008"/>
            <a:ext cx="914400" cy="329184"/>
          </a:xfrm>
          <a:prstGeom prst="rect">
            <a:avLst/>
          </a:prstGeom>
          <a:solidFill>
            <a:srgbClr val="1E40A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8"/>
          <p:cNvSpPr/>
          <p:nvPr/>
        </p:nvSpPr>
        <p:spPr>
          <a:xfrm>
            <a:off x="256032" y="1207008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 Black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지표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8"/>
          <p:cNvSpPr/>
          <p:nvPr/>
        </p:nvSpPr>
        <p:spPr>
          <a:xfrm>
            <a:off x="1188720" y="1207008"/>
            <a:ext cx="658368" cy="329184"/>
          </a:xfrm>
          <a:prstGeom prst="rect">
            <a:avLst/>
          </a:prstGeom>
          <a:solidFill>
            <a:srgbClr val="1E40A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8"/>
          <p:cNvSpPr/>
          <p:nvPr/>
        </p:nvSpPr>
        <p:spPr>
          <a:xfrm>
            <a:off x="1188720" y="1207008"/>
            <a:ext cx="658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 Black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KoELECTRA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 Black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-base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8"/>
          <p:cNvSpPr/>
          <p:nvPr/>
        </p:nvSpPr>
        <p:spPr>
          <a:xfrm>
            <a:off x="1865376" y="1207008"/>
            <a:ext cx="658368" cy="329184"/>
          </a:xfrm>
          <a:prstGeom prst="rect">
            <a:avLst/>
          </a:prstGeom>
          <a:solidFill>
            <a:srgbClr val="1E40A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8"/>
          <p:cNvSpPr/>
          <p:nvPr/>
        </p:nvSpPr>
        <p:spPr>
          <a:xfrm>
            <a:off x="1865376" y="1207008"/>
            <a:ext cx="658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 Black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RoBERTa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 Black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-base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8"/>
          <p:cNvSpPr/>
          <p:nvPr/>
        </p:nvSpPr>
        <p:spPr>
          <a:xfrm>
            <a:off x="2542032" y="1207008"/>
            <a:ext cx="475488" cy="329184"/>
          </a:xfrm>
          <a:prstGeom prst="rect">
            <a:avLst/>
          </a:prstGeom>
          <a:solidFill>
            <a:srgbClr val="1E40A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8"/>
          <p:cNvSpPr/>
          <p:nvPr/>
        </p:nvSpPr>
        <p:spPr>
          <a:xfrm>
            <a:off x="2542032" y="1207008"/>
            <a:ext cx="475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 Black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 Black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BERTa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8"/>
          <p:cNvSpPr/>
          <p:nvPr/>
        </p:nvSpPr>
        <p:spPr>
          <a:xfrm>
            <a:off x="256032" y="1554480"/>
            <a:ext cx="914400" cy="265176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8"/>
          <p:cNvSpPr/>
          <p:nvPr/>
        </p:nvSpPr>
        <p:spPr>
          <a:xfrm>
            <a:off x="283464" y="1591056"/>
            <a:ext cx="8595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모델 용량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8"/>
          <p:cNvSpPr/>
          <p:nvPr/>
        </p:nvSpPr>
        <p:spPr>
          <a:xfrm>
            <a:off x="1188720" y="1554480"/>
            <a:ext cx="658368" cy="265176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8"/>
          <p:cNvSpPr/>
          <p:nvPr/>
        </p:nvSpPr>
        <p:spPr>
          <a:xfrm>
            <a:off x="1216152" y="1591056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450MB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8"/>
          <p:cNvSpPr/>
          <p:nvPr/>
        </p:nvSpPr>
        <p:spPr>
          <a:xfrm>
            <a:off x="1865376" y="1554480"/>
            <a:ext cx="658368" cy="265176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8"/>
          <p:cNvSpPr/>
          <p:nvPr/>
        </p:nvSpPr>
        <p:spPr>
          <a:xfrm>
            <a:off x="1892808" y="1591056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443MB 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8"/>
          <p:cNvSpPr/>
          <p:nvPr/>
        </p:nvSpPr>
        <p:spPr>
          <a:xfrm>
            <a:off x="2542032" y="1554480"/>
            <a:ext cx="475488" cy="265176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8"/>
          <p:cNvSpPr/>
          <p:nvPr/>
        </p:nvSpPr>
        <p:spPr>
          <a:xfrm>
            <a:off x="2569464" y="1591056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550MB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8"/>
          <p:cNvSpPr/>
          <p:nvPr/>
        </p:nvSpPr>
        <p:spPr>
          <a:xfrm>
            <a:off x="256032" y="1847088"/>
            <a:ext cx="914400" cy="2651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8"/>
          <p:cNvSpPr/>
          <p:nvPr/>
        </p:nvSpPr>
        <p:spPr>
          <a:xfrm>
            <a:off x="283464" y="1883664"/>
            <a:ext cx="8595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8"/>
          <p:cNvSpPr/>
          <p:nvPr/>
        </p:nvSpPr>
        <p:spPr>
          <a:xfrm>
            <a:off x="1188720" y="1847088"/>
            <a:ext cx="658368" cy="2651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8"/>
          <p:cNvSpPr/>
          <p:nvPr/>
        </p:nvSpPr>
        <p:spPr>
          <a:xfrm>
            <a:off x="1216152" y="1883664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0.800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8"/>
          <p:cNvSpPr/>
          <p:nvPr/>
        </p:nvSpPr>
        <p:spPr>
          <a:xfrm>
            <a:off x="1865376" y="1847088"/>
            <a:ext cx="658368" cy="265176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8"/>
          <p:cNvSpPr/>
          <p:nvPr/>
        </p:nvSpPr>
        <p:spPr>
          <a:xfrm>
            <a:off x="1892808" y="1883664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0.853 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8"/>
          <p:cNvSpPr/>
          <p:nvPr/>
        </p:nvSpPr>
        <p:spPr>
          <a:xfrm>
            <a:off x="2542032" y="1847088"/>
            <a:ext cx="475488" cy="2651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8"/>
          <p:cNvSpPr/>
          <p:nvPr/>
        </p:nvSpPr>
        <p:spPr>
          <a:xfrm>
            <a:off x="2569464" y="1883664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0.849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8"/>
          <p:cNvSpPr/>
          <p:nvPr/>
        </p:nvSpPr>
        <p:spPr>
          <a:xfrm>
            <a:off x="256032" y="2139696"/>
            <a:ext cx="914400" cy="265176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8"/>
          <p:cNvSpPr/>
          <p:nvPr/>
        </p:nvSpPr>
        <p:spPr>
          <a:xfrm>
            <a:off x="283464" y="2176272"/>
            <a:ext cx="8595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8"/>
          <p:cNvSpPr/>
          <p:nvPr/>
        </p:nvSpPr>
        <p:spPr>
          <a:xfrm>
            <a:off x="1188720" y="2139696"/>
            <a:ext cx="658368" cy="265176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8"/>
          <p:cNvSpPr/>
          <p:nvPr/>
        </p:nvSpPr>
        <p:spPr>
          <a:xfrm>
            <a:off x="1216152" y="2176272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0.797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8"/>
          <p:cNvSpPr/>
          <p:nvPr/>
        </p:nvSpPr>
        <p:spPr>
          <a:xfrm>
            <a:off x="1865376" y="2139696"/>
            <a:ext cx="658368" cy="265176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8"/>
          <p:cNvSpPr/>
          <p:nvPr/>
        </p:nvSpPr>
        <p:spPr>
          <a:xfrm>
            <a:off x="1892808" y="2176272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0.875 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8"/>
          <p:cNvSpPr/>
          <p:nvPr/>
        </p:nvSpPr>
        <p:spPr>
          <a:xfrm>
            <a:off x="2542032" y="2139696"/>
            <a:ext cx="475488" cy="265176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8"/>
          <p:cNvSpPr/>
          <p:nvPr/>
        </p:nvSpPr>
        <p:spPr>
          <a:xfrm>
            <a:off x="2569464" y="217627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0.873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8"/>
          <p:cNvSpPr/>
          <p:nvPr/>
        </p:nvSpPr>
        <p:spPr>
          <a:xfrm>
            <a:off x="256032" y="2432304"/>
            <a:ext cx="914400" cy="2651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8"/>
          <p:cNvSpPr/>
          <p:nvPr/>
        </p:nvSpPr>
        <p:spPr>
          <a:xfrm>
            <a:off x="283464" y="2468880"/>
            <a:ext cx="8595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핵심 특성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8"/>
          <p:cNvSpPr/>
          <p:nvPr/>
        </p:nvSpPr>
        <p:spPr>
          <a:xfrm>
            <a:off x="1188720" y="2432304"/>
            <a:ext cx="658368" cy="2651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8"/>
          <p:cNvSpPr/>
          <p:nvPr/>
        </p:nvSpPr>
        <p:spPr>
          <a:xfrm>
            <a:off x="1216152" y="2468880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검출↑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8"/>
          <p:cNvSpPr/>
          <p:nvPr/>
        </p:nvSpPr>
        <p:spPr>
          <a:xfrm>
            <a:off x="1865376" y="2432304"/>
            <a:ext cx="658368" cy="265176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8"/>
          <p:cNvSpPr/>
          <p:nvPr/>
        </p:nvSpPr>
        <p:spPr>
          <a:xfrm>
            <a:off x="1892808" y="2468880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정밀도↑ 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8"/>
          <p:cNvSpPr/>
          <p:nvPr/>
        </p:nvSpPr>
        <p:spPr>
          <a:xfrm>
            <a:off x="2542032" y="2432304"/>
            <a:ext cx="475488" cy="2651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8"/>
          <p:cNvSpPr/>
          <p:nvPr/>
        </p:nvSpPr>
        <p:spPr>
          <a:xfrm>
            <a:off x="2569464" y="2468880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무거움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8"/>
          <p:cNvSpPr/>
          <p:nvPr/>
        </p:nvSpPr>
        <p:spPr>
          <a:xfrm>
            <a:off x="256032" y="2724912"/>
            <a:ext cx="2743200" cy="256032"/>
          </a:xfrm>
          <a:prstGeom prst="rect">
            <a:avLst/>
          </a:prstGeom>
          <a:solidFill>
            <a:srgbClr val="1E40A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8"/>
          <p:cNvSpPr/>
          <p:nvPr/>
        </p:nvSpPr>
        <p:spPr>
          <a:xfrm>
            <a:off x="292608" y="2724912"/>
            <a:ext cx="27066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→  법적 정밀도 최우선 — 판사는 정확해야 한다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8"/>
          <p:cNvSpPr/>
          <p:nvPr/>
        </p:nvSpPr>
        <p:spPr>
          <a:xfrm>
            <a:off x="3246120" y="804672"/>
            <a:ext cx="5669280" cy="2057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290319950" rotWithShape="0" algn="bl" dist="483870000">
              <a:srgbClr val="000000">
                <a:alpha val="9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8"/>
          <p:cNvSpPr/>
          <p:nvPr/>
        </p:nvSpPr>
        <p:spPr>
          <a:xfrm>
            <a:off x="3246120" y="804672"/>
            <a:ext cx="5669280" cy="34747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8"/>
          <p:cNvSpPr/>
          <p:nvPr/>
        </p:nvSpPr>
        <p:spPr>
          <a:xfrm>
            <a:off x="3337560" y="822960"/>
            <a:ext cx="5440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② 정밀 학습 전략  —  지능 보존 + 논리적 일관성 확보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8"/>
          <p:cNvSpPr/>
          <p:nvPr/>
        </p:nvSpPr>
        <p:spPr>
          <a:xfrm>
            <a:off x="3364992" y="1225296"/>
            <a:ext cx="859536" cy="548640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8"/>
          <p:cNvSpPr/>
          <p:nvPr/>
        </p:nvSpPr>
        <p:spPr>
          <a:xfrm>
            <a:off x="3364992" y="1234440"/>
            <a:ext cx="8595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8"/>
          <p:cNvSpPr/>
          <p:nvPr/>
        </p:nvSpPr>
        <p:spPr>
          <a:xfrm>
            <a:off x="3392424" y="1453896"/>
            <a:ext cx="8046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Arial Black"/>
              <a:buNone/>
            </a:pPr>
            <a:r>
              <a:rPr b="1" i="0" lang="en-US" sz="800" u="none" cap="none" strike="noStrike">
                <a:solidFill>
                  <a:srgbClr val="7C3AED"/>
                </a:solidFill>
                <a:latin typeface="Arial Black"/>
                <a:ea typeface="Arial Black"/>
                <a:cs typeface="Arial Black"/>
                <a:sym typeface="Arial Black"/>
              </a:rPr>
              <a:t>판례 2,400건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8"/>
          <p:cNvSpPr/>
          <p:nvPr/>
        </p:nvSpPr>
        <p:spPr>
          <a:xfrm>
            <a:off x="4224528" y="1389888"/>
            <a:ext cx="1463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8"/>
          <p:cNvSpPr/>
          <p:nvPr/>
        </p:nvSpPr>
        <p:spPr>
          <a:xfrm>
            <a:off x="4370832" y="1225296"/>
            <a:ext cx="859536" cy="548640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8"/>
          <p:cNvSpPr/>
          <p:nvPr/>
        </p:nvSpPr>
        <p:spPr>
          <a:xfrm>
            <a:off x="4370832" y="1234440"/>
            <a:ext cx="8595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⚖️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8"/>
          <p:cNvSpPr/>
          <p:nvPr/>
        </p:nvSpPr>
        <p:spPr>
          <a:xfrm>
            <a:off x="4398264" y="1453896"/>
            <a:ext cx="8046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Arial Black"/>
              <a:buNone/>
            </a:pPr>
            <a:r>
              <a:rPr b="1" i="0" lang="en-US" sz="800" u="none" cap="none" strike="noStrike">
                <a:solidFill>
                  <a:srgbClr val="7C3AED"/>
                </a:solidFill>
                <a:latin typeface="Arial Black"/>
                <a:ea typeface="Arial Black"/>
                <a:cs typeface="Arial Black"/>
                <a:sym typeface="Arial Black"/>
              </a:rPr>
              <a:t>근로기준법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Arial Black"/>
              <a:buNone/>
            </a:pPr>
            <a:r>
              <a:rPr b="1" i="0" lang="en-US" sz="800" u="none" cap="none" strike="noStrike">
                <a:solidFill>
                  <a:srgbClr val="7C3AED"/>
                </a:solidFill>
                <a:latin typeface="Arial Black"/>
                <a:ea typeface="Arial Black"/>
                <a:cs typeface="Arial Black"/>
                <a:sym typeface="Arial Black"/>
              </a:rPr>
              <a:t>전 조항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8"/>
          <p:cNvSpPr/>
          <p:nvPr/>
        </p:nvSpPr>
        <p:spPr>
          <a:xfrm>
            <a:off x="5230368" y="1389888"/>
            <a:ext cx="1463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8"/>
          <p:cNvSpPr/>
          <p:nvPr/>
        </p:nvSpPr>
        <p:spPr>
          <a:xfrm>
            <a:off x="5376672" y="1225296"/>
            <a:ext cx="859536" cy="548640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8"/>
          <p:cNvSpPr/>
          <p:nvPr/>
        </p:nvSpPr>
        <p:spPr>
          <a:xfrm>
            <a:off x="5376672" y="1234440"/>
            <a:ext cx="8595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8"/>
          <p:cNvSpPr/>
          <p:nvPr/>
        </p:nvSpPr>
        <p:spPr>
          <a:xfrm>
            <a:off x="5404104" y="1453896"/>
            <a:ext cx="8046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Arial Black"/>
              <a:buNone/>
            </a:pPr>
            <a:r>
              <a:rPr b="1" i="0" lang="en-US" sz="800" u="none" cap="none" strike="noStrike">
                <a:solidFill>
                  <a:srgbClr val="7C3AED"/>
                </a:solidFill>
                <a:latin typeface="Arial Black"/>
                <a:ea typeface="Arial Black"/>
                <a:cs typeface="Arial Black"/>
                <a:sym typeface="Arial Black"/>
              </a:rPr>
              <a:t>법령+판례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Arial Black"/>
              <a:buNone/>
            </a:pPr>
            <a:r>
              <a:rPr b="1" i="0" lang="en-US" sz="800" u="none" cap="none" strike="noStrike">
                <a:solidFill>
                  <a:srgbClr val="7C3AED"/>
                </a:solidFill>
                <a:latin typeface="Arial Black"/>
                <a:ea typeface="Arial Black"/>
                <a:cs typeface="Arial Black"/>
                <a:sym typeface="Arial Black"/>
              </a:rPr>
              <a:t>결합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8"/>
          <p:cNvSpPr/>
          <p:nvPr/>
        </p:nvSpPr>
        <p:spPr>
          <a:xfrm>
            <a:off x="6236208" y="1389888"/>
            <a:ext cx="1463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8"/>
          <p:cNvSpPr/>
          <p:nvPr/>
        </p:nvSpPr>
        <p:spPr>
          <a:xfrm>
            <a:off x="6382512" y="1225296"/>
            <a:ext cx="859536" cy="548640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8"/>
          <p:cNvSpPr/>
          <p:nvPr/>
        </p:nvSpPr>
        <p:spPr>
          <a:xfrm>
            <a:off x="6382512" y="1234440"/>
            <a:ext cx="8595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🧪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8"/>
          <p:cNvSpPr/>
          <p:nvPr/>
        </p:nvSpPr>
        <p:spPr>
          <a:xfrm>
            <a:off x="6409944" y="1453896"/>
            <a:ext cx="8046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Arial Black"/>
              <a:buNone/>
            </a:pPr>
            <a:r>
              <a:rPr b="1" i="0" lang="en-US" sz="800" u="none" cap="none" strike="noStrike">
                <a:solidFill>
                  <a:srgbClr val="7C3AED"/>
                </a:solidFill>
                <a:latin typeface="Arial Black"/>
                <a:ea typeface="Arial Black"/>
                <a:cs typeface="Arial Black"/>
                <a:sym typeface="Arial Black"/>
              </a:rPr>
              <a:t>독소 시나리오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Arial Black"/>
              <a:buNone/>
            </a:pPr>
            <a:r>
              <a:rPr b="1" i="0" lang="en-US" sz="800" u="none" cap="none" strike="noStrike">
                <a:solidFill>
                  <a:srgbClr val="7C3AED"/>
                </a:solidFill>
                <a:latin typeface="Arial Black"/>
                <a:ea typeface="Arial Black"/>
                <a:cs typeface="Arial Black"/>
                <a:sym typeface="Arial Black"/>
              </a:rPr>
              <a:t>증강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8"/>
          <p:cNvSpPr/>
          <p:nvPr/>
        </p:nvSpPr>
        <p:spPr>
          <a:xfrm>
            <a:off x="7242048" y="1389888"/>
            <a:ext cx="1463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8"/>
          <p:cNvSpPr/>
          <p:nvPr/>
        </p:nvSpPr>
        <p:spPr>
          <a:xfrm>
            <a:off x="7388352" y="1225296"/>
            <a:ext cx="859536" cy="548640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8"/>
          <p:cNvSpPr/>
          <p:nvPr/>
        </p:nvSpPr>
        <p:spPr>
          <a:xfrm>
            <a:off x="7388352" y="1234440"/>
            <a:ext cx="8595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🗃️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8"/>
          <p:cNvSpPr/>
          <p:nvPr/>
        </p:nvSpPr>
        <p:spPr>
          <a:xfrm>
            <a:off x="7415784" y="1453896"/>
            <a:ext cx="8046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Arial Black"/>
              <a:buNone/>
            </a:pPr>
            <a:r>
              <a:rPr b="1" i="0" lang="en-US" sz="800" u="none" cap="none" strike="noStrike">
                <a:solidFill>
                  <a:srgbClr val="7C3AED"/>
                </a:solidFill>
                <a:latin typeface="Arial Black"/>
                <a:ea typeface="Arial Black"/>
                <a:cs typeface="Arial Black"/>
                <a:sym typeface="Arial Black"/>
              </a:rPr>
              <a:t>최종 데이터셋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8"/>
          <p:cNvSpPr/>
          <p:nvPr/>
        </p:nvSpPr>
        <p:spPr>
          <a:xfrm>
            <a:off x="8193026" y="1261875"/>
            <a:ext cx="603600" cy="4023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8"/>
          <p:cNvSpPr/>
          <p:nvPr/>
        </p:nvSpPr>
        <p:spPr>
          <a:xfrm>
            <a:off x="8138050" y="1261875"/>
            <a:ext cx="658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7,000건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완성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8"/>
          <p:cNvSpPr/>
          <p:nvPr/>
        </p:nvSpPr>
        <p:spPr>
          <a:xfrm>
            <a:off x="3337560" y="1901952"/>
            <a:ext cx="2633472" cy="40233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8"/>
          <p:cNvSpPr/>
          <p:nvPr/>
        </p:nvSpPr>
        <p:spPr>
          <a:xfrm>
            <a:off x="3410712" y="2002536"/>
            <a:ext cx="201168" cy="20116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8"/>
          <p:cNvSpPr/>
          <p:nvPr/>
        </p:nvSpPr>
        <p:spPr>
          <a:xfrm>
            <a:off x="3410712" y="200253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8"/>
          <p:cNvSpPr/>
          <p:nvPr/>
        </p:nvSpPr>
        <p:spPr>
          <a:xfrm>
            <a:off x="3666744" y="1929384"/>
            <a:ext cx="22494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 Black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층별 학습률 차등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8"/>
          <p:cNvSpPr/>
          <p:nvPr/>
        </p:nvSpPr>
        <p:spPr>
          <a:xfrm>
            <a:off x="3666744" y="2112264"/>
            <a:ext cx="22494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상위 레이어: 새 법리 학습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하위 레이어: 한국어 지능 보존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8"/>
          <p:cNvSpPr/>
          <p:nvPr/>
        </p:nvSpPr>
        <p:spPr>
          <a:xfrm>
            <a:off x="6126480" y="1901952"/>
            <a:ext cx="2633472" cy="40233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8"/>
          <p:cNvSpPr/>
          <p:nvPr/>
        </p:nvSpPr>
        <p:spPr>
          <a:xfrm>
            <a:off x="6199632" y="2002536"/>
            <a:ext cx="201168" cy="201168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8"/>
          <p:cNvSpPr/>
          <p:nvPr/>
        </p:nvSpPr>
        <p:spPr>
          <a:xfrm>
            <a:off x="6199632" y="200253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8"/>
          <p:cNvSpPr/>
          <p:nvPr/>
        </p:nvSpPr>
        <p:spPr>
          <a:xfrm>
            <a:off x="6455664" y="1929384"/>
            <a:ext cx="22494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 Black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R-Drop 논리 일관성 강제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8"/>
          <p:cNvSpPr/>
          <p:nvPr/>
        </p:nvSpPr>
        <p:spPr>
          <a:xfrm>
            <a:off x="6455664" y="2112264"/>
            <a:ext cx="22494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동일 문장 → 일관된 판단 강제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일반화 능력 극대화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8"/>
          <p:cNvSpPr/>
          <p:nvPr/>
        </p:nvSpPr>
        <p:spPr>
          <a:xfrm>
            <a:off x="3337560" y="2359152"/>
            <a:ext cx="2633472" cy="40233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8"/>
          <p:cNvSpPr/>
          <p:nvPr/>
        </p:nvSpPr>
        <p:spPr>
          <a:xfrm>
            <a:off x="3410712" y="2459736"/>
            <a:ext cx="201168" cy="201168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8"/>
          <p:cNvSpPr/>
          <p:nvPr/>
        </p:nvSpPr>
        <p:spPr>
          <a:xfrm>
            <a:off x="3410712" y="245973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8"/>
          <p:cNvSpPr/>
          <p:nvPr/>
        </p:nvSpPr>
        <p:spPr>
          <a:xfrm>
            <a:off x="3666744" y="2386584"/>
            <a:ext cx="22494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 Black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Focal Loss 하드 네거티브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8"/>
          <p:cNvSpPr/>
          <p:nvPr/>
        </p:nvSpPr>
        <p:spPr>
          <a:xfrm>
            <a:off x="3666744" y="2569464"/>
            <a:ext cx="2249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구분 어려운 경계 사례 집중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오탐률 최소화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8"/>
          <p:cNvSpPr/>
          <p:nvPr/>
        </p:nvSpPr>
        <p:spPr>
          <a:xfrm>
            <a:off x="6126480" y="2359152"/>
            <a:ext cx="2633472" cy="40233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8"/>
          <p:cNvSpPr/>
          <p:nvPr/>
        </p:nvSpPr>
        <p:spPr>
          <a:xfrm>
            <a:off x="6199632" y="2459736"/>
            <a:ext cx="201168" cy="201168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8"/>
          <p:cNvSpPr/>
          <p:nvPr/>
        </p:nvSpPr>
        <p:spPr>
          <a:xfrm>
            <a:off x="6199632" y="245973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8"/>
          <p:cNvSpPr/>
          <p:nvPr/>
        </p:nvSpPr>
        <p:spPr>
          <a:xfrm>
            <a:off x="6455664" y="2386584"/>
            <a:ext cx="22494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 Black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Cosine 스케줄러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8"/>
          <p:cNvSpPr/>
          <p:nvPr/>
        </p:nvSpPr>
        <p:spPr>
          <a:xfrm>
            <a:off x="6455664" y="2569464"/>
            <a:ext cx="22494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학습 후반 미세 법리 차이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정교하게 튜닝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8"/>
          <p:cNvSpPr/>
          <p:nvPr/>
        </p:nvSpPr>
        <p:spPr>
          <a:xfrm>
            <a:off x="228600" y="2999232"/>
            <a:ext cx="8686800" cy="1865376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16387064250000" rotWithShape="0" algn="bl" dist="-949200576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8"/>
          <p:cNvSpPr/>
          <p:nvPr/>
        </p:nvSpPr>
        <p:spPr>
          <a:xfrm>
            <a:off x="228600" y="2999232"/>
            <a:ext cx="8686800" cy="32918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8"/>
          <p:cNvSpPr/>
          <p:nvPr/>
        </p:nvSpPr>
        <p:spPr>
          <a:xfrm>
            <a:off x="347472" y="3017520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③ 성능 결산  —  환각(Hallucination) 없는 법률 리포트 완성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8"/>
          <p:cNvSpPr/>
          <p:nvPr/>
        </p:nvSpPr>
        <p:spPr>
          <a:xfrm>
            <a:off x="347472" y="3401568"/>
            <a:ext cx="1828800" cy="1335024"/>
          </a:xfrm>
          <a:prstGeom prst="rect">
            <a:avLst/>
          </a:prstGeom>
          <a:solidFill>
            <a:srgbClr val="EFF6FF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208115700000000000" rotWithShape="0" algn="bl" dist="1125884672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8"/>
          <p:cNvSpPr/>
          <p:nvPr/>
        </p:nvSpPr>
        <p:spPr>
          <a:xfrm>
            <a:off x="347472" y="3438144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🏆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8"/>
          <p:cNvSpPr/>
          <p:nvPr/>
        </p:nvSpPr>
        <p:spPr>
          <a:xfrm>
            <a:off x="347472" y="3785616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2563EB"/>
                </a:solidFill>
                <a:latin typeface="Arial Black"/>
                <a:ea typeface="Arial Black"/>
                <a:cs typeface="Arial Black"/>
                <a:sym typeface="Arial Black"/>
              </a:rPr>
              <a:t>0.93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8"/>
          <p:cNvSpPr/>
          <p:nvPr/>
        </p:nvSpPr>
        <p:spPr>
          <a:xfrm>
            <a:off x="384048" y="4261104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F1-Score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8"/>
          <p:cNvSpPr/>
          <p:nvPr/>
        </p:nvSpPr>
        <p:spPr>
          <a:xfrm>
            <a:off x="384048" y="4462272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최종 종합 성능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8"/>
          <p:cNvSpPr/>
          <p:nvPr/>
        </p:nvSpPr>
        <p:spPr>
          <a:xfrm>
            <a:off x="2359152" y="3401568"/>
            <a:ext cx="1828800" cy="1335024"/>
          </a:xfrm>
          <a:prstGeom prst="rect">
            <a:avLst/>
          </a:prstGeom>
          <a:solidFill>
            <a:srgbClr val="ECFDF5"/>
          </a:solidFill>
          <a:ln cap="flat" cmpd="sng" w="152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8"/>
          <p:cNvSpPr/>
          <p:nvPr/>
        </p:nvSpPr>
        <p:spPr>
          <a:xfrm>
            <a:off x="2359152" y="3438144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8"/>
          <p:cNvSpPr/>
          <p:nvPr/>
        </p:nvSpPr>
        <p:spPr>
          <a:xfrm>
            <a:off x="2359152" y="3785616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0B981"/>
                </a:solidFill>
                <a:latin typeface="Arial Black"/>
                <a:ea typeface="Arial Black"/>
                <a:cs typeface="Arial Black"/>
                <a:sym typeface="Arial Black"/>
              </a:rPr>
              <a:t>0.95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8"/>
          <p:cNvSpPr/>
          <p:nvPr/>
        </p:nvSpPr>
        <p:spPr>
          <a:xfrm>
            <a:off x="2395728" y="4261104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Precision (정밀도)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8"/>
          <p:cNvSpPr/>
          <p:nvPr/>
        </p:nvSpPr>
        <p:spPr>
          <a:xfrm>
            <a:off x="2395728" y="4462272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오탐 최소화 핵심 지표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8"/>
          <p:cNvSpPr/>
          <p:nvPr/>
        </p:nvSpPr>
        <p:spPr>
          <a:xfrm>
            <a:off x="4370832" y="3401568"/>
            <a:ext cx="1828800" cy="1335024"/>
          </a:xfrm>
          <a:prstGeom prst="rect">
            <a:avLst/>
          </a:prstGeom>
          <a:solidFill>
            <a:srgbClr val="FFFBEB"/>
          </a:solidFill>
          <a:ln cap="flat" cmpd="sng" w="152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8"/>
          <p:cNvSpPr/>
          <p:nvPr/>
        </p:nvSpPr>
        <p:spPr>
          <a:xfrm>
            <a:off x="4370832" y="3438144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8"/>
          <p:cNvSpPr/>
          <p:nvPr/>
        </p:nvSpPr>
        <p:spPr>
          <a:xfrm>
            <a:off x="4370832" y="3785616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0.54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8"/>
          <p:cNvSpPr/>
          <p:nvPr/>
        </p:nvSpPr>
        <p:spPr>
          <a:xfrm>
            <a:off x="4407408" y="4261104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최적 임계값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8"/>
          <p:cNvSpPr/>
          <p:nvPr/>
        </p:nvSpPr>
        <p:spPr>
          <a:xfrm>
            <a:off x="4407408" y="4462272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확신도 기반 차등 운영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8"/>
          <p:cNvSpPr/>
          <p:nvPr/>
        </p:nvSpPr>
        <p:spPr>
          <a:xfrm>
            <a:off x="6419088" y="3364992"/>
            <a:ext cx="2432304" cy="1389888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8"/>
          <p:cNvSpPr/>
          <p:nvPr/>
        </p:nvSpPr>
        <p:spPr>
          <a:xfrm>
            <a:off x="6464808" y="3383280"/>
            <a:ext cx="23408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1E40AF"/>
                </a:solidFill>
                <a:latin typeface="Arial Black"/>
                <a:ea typeface="Arial Black"/>
                <a:cs typeface="Arial Black"/>
                <a:sym typeface="Arial Black"/>
              </a:rPr>
              <a:t>임계값 기반 운영 전략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8"/>
          <p:cNvSpPr/>
          <p:nvPr/>
        </p:nvSpPr>
        <p:spPr>
          <a:xfrm>
            <a:off x="6464808" y="3675888"/>
            <a:ext cx="2340864" cy="30175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8"/>
          <p:cNvSpPr/>
          <p:nvPr/>
        </p:nvSpPr>
        <p:spPr>
          <a:xfrm>
            <a:off x="6492240" y="3712464"/>
            <a:ext cx="1143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Arial Black"/>
                <a:ea typeface="Arial Black"/>
                <a:cs typeface="Arial Black"/>
                <a:sym typeface="Arial Black"/>
              </a:rPr>
              <a:t>✅  0.85 이상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8"/>
          <p:cNvSpPr/>
          <p:nvPr/>
        </p:nvSpPr>
        <p:spPr>
          <a:xfrm>
            <a:off x="7644384" y="3721608"/>
            <a:ext cx="11338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즉시 리포트 인용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8"/>
          <p:cNvSpPr/>
          <p:nvPr/>
        </p:nvSpPr>
        <p:spPr>
          <a:xfrm>
            <a:off x="6464808" y="4023360"/>
            <a:ext cx="2340864" cy="30175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8"/>
          <p:cNvSpPr/>
          <p:nvPr/>
        </p:nvSpPr>
        <p:spPr>
          <a:xfrm>
            <a:off x="6492240" y="4059936"/>
            <a:ext cx="1143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📌  0.54 ~ 0.85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8"/>
          <p:cNvSpPr/>
          <p:nvPr/>
        </p:nvSpPr>
        <p:spPr>
          <a:xfrm>
            <a:off x="7644384" y="4069080"/>
            <a:ext cx="11338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보조 참고 자료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8"/>
          <p:cNvSpPr/>
          <p:nvPr/>
        </p:nvSpPr>
        <p:spPr>
          <a:xfrm>
            <a:off x="6464808" y="4370832"/>
            <a:ext cx="2340864" cy="30175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8"/>
          <p:cNvSpPr/>
          <p:nvPr/>
        </p:nvSpPr>
        <p:spPr>
          <a:xfrm>
            <a:off x="6492240" y="4407408"/>
            <a:ext cx="1143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❌  0.54 미만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8"/>
          <p:cNvSpPr/>
          <p:nvPr/>
        </p:nvSpPr>
        <p:spPr>
          <a:xfrm>
            <a:off x="7644384" y="4416552"/>
            <a:ext cx="11338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필터링 제외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9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9"/>
          <p:cNvSpPr/>
          <p:nvPr/>
        </p:nvSpPr>
        <p:spPr>
          <a:xfrm>
            <a:off x="274320" y="0"/>
            <a:ext cx="85953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왜 시멘틱 서치를 사용해야 하는가?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9"/>
          <p:cNvSpPr/>
          <p:nvPr/>
        </p:nvSpPr>
        <p:spPr>
          <a:xfrm>
            <a:off x="274320" y="7772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① 일반 검색 vs 시멘틱 서치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9"/>
          <p:cNvSpPr/>
          <p:nvPr/>
        </p:nvSpPr>
        <p:spPr>
          <a:xfrm>
            <a:off x="274320" y="1033272"/>
            <a:ext cx="8595360" cy="256032"/>
          </a:xfrm>
          <a:prstGeom prst="rect">
            <a:avLst/>
          </a:prstGeom>
          <a:solidFill>
            <a:srgbClr val="025F6D"/>
          </a:solidFill>
          <a:ln cap="flat" cmpd="sng" w="12700">
            <a:solidFill>
              <a:srgbClr val="025F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9"/>
          <p:cNvSpPr/>
          <p:nvPr/>
        </p:nvSpPr>
        <p:spPr>
          <a:xfrm>
            <a:off x="274320" y="103327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구분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9"/>
          <p:cNvSpPr/>
          <p:nvPr/>
        </p:nvSpPr>
        <p:spPr>
          <a:xfrm>
            <a:off x="1965960" y="1033272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일반 검색 (Keyword Search)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9"/>
          <p:cNvSpPr/>
          <p:nvPr/>
        </p:nvSpPr>
        <p:spPr>
          <a:xfrm>
            <a:off x="5577840" y="1033272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시멘틱 서치 (Semantic Search)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9"/>
          <p:cNvSpPr/>
          <p:nvPr/>
        </p:nvSpPr>
        <p:spPr>
          <a:xfrm>
            <a:off x="274320" y="1289304"/>
            <a:ext cx="8595360" cy="274320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D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9"/>
          <p:cNvSpPr/>
          <p:nvPr/>
        </p:nvSpPr>
        <p:spPr>
          <a:xfrm>
            <a:off x="320040" y="1289304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5F6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5F6D"/>
                </a:solidFill>
                <a:latin typeface="Calibri"/>
                <a:ea typeface="Calibri"/>
                <a:cs typeface="Calibri"/>
                <a:sym typeface="Calibri"/>
              </a:rPr>
              <a:t>핵심 원리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9"/>
          <p:cNvSpPr/>
          <p:nvPr/>
        </p:nvSpPr>
        <p:spPr>
          <a:xfrm>
            <a:off x="2011680" y="1289304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단어 형태가 일치하는지 확인 (Lexical Match)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9"/>
          <p:cNvSpPr/>
          <p:nvPr/>
        </p:nvSpPr>
        <p:spPr>
          <a:xfrm>
            <a:off x="5623560" y="128930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단어 의미와 문맥적 유사성 파악 (Vector Embedding)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9"/>
          <p:cNvSpPr/>
          <p:nvPr/>
        </p:nvSpPr>
        <p:spPr>
          <a:xfrm>
            <a:off x="274320" y="1563624"/>
            <a:ext cx="8595360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19"/>
          <p:cNvSpPr/>
          <p:nvPr/>
        </p:nvSpPr>
        <p:spPr>
          <a:xfrm>
            <a:off x="320040" y="1563624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5F6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5F6D"/>
                </a:solidFill>
                <a:latin typeface="Calibri"/>
                <a:ea typeface="Calibri"/>
                <a:cs typeface="Calibri"/>
                <a:sym typeface="Calibri"/>
              </a:rPr>
              <a:t>이해 방식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9"/>
          <p:cNvSpPr/>
          <p:nvPr/>
        </p:nvSpPr>
        <p:spPr>
          <a:xfrm>
            <a:off x="2011680" y="1563624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"무엇을(What)" 썼는가에 집중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9"/>
          <p:cNvSpPr/>
          <p:nvPr/>
        </p:nvSpPr>
        <p:spPr>
          <a:xfrm>
            <a:off x="5623560" y="156362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"어떤 의도(Why/Intent)"인가에 집중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9"/>
          <p:cNvSpPr/>
          <p:nvPr/>
        </p:nvSpPr>
        <p:spPr>
          <a:xfrm>
            <a:off x="274320" y="1837944"/>
            <a:ext cx="8595360" cy="274320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D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9"/>
          <p:cNvSpPr/>
          <p:nvPr/>
        </p:nvSpPr>
        <p:spPr>
          <a:xfrm>
            <a:off x="320040" y="1837944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5F6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5F6D"/>
                </a:solidFill>
                <a:latin typeface="Calibri"/>
                <a:ea typeface="Calibri"/>
                <a:cs typeface="Calibri"/>
                <a:sym typeface="Calibri"/>
              </a:rPr>
              <a:t>한계 / 강점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9"/>
          <p:cNvSpPr/>
          <p:nvPr/>
        </p:nvSpPr>
        <p:spPr>
          <a:xfrm>
            <a:off x="2011680" y="1837944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동의어·유의어 처리 어렵고 오타에 취약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9"/>
          <p:cNvSpPr/>
          <p:nvPr/>
        </p:nvSpPr>
        <p:spPr>
          <a:xfrm>
            <a:off x="5623560" y="183794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표현이 달라도 의미가 같으면 탐지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9"/>
          <p:cNvSpPr/>
          <p:nvPr/>
        </p:nvSpPr>
        <p:spPr>
          <a:xfrm>
            <a:off x="274320" y="2112264"/>
            <a:ext cx="8595360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9"/>
          <p:cNvSpPr/>
          <p:nvPr/>
        </p:nvSpPr>
        <p:spPr>
          <a:xfrm>
            <a:off x="320040" y="2112264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5F6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5F6D"/>
                </a:solidFill>
                <a:latin typeface="Calibri"/>
                <a:ea typeface="Calibri"/>
                <a:cs typeface="Calibri"/>
                <a:sym typeface="Calibri"/>
              </a:rPr>
              <a:t>법률 분석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9"/>
          <p:cNvSpPr/>
          <p:nvPr/>
        </p:nvSpPr>
        <p:spPr>
          <a:xfrm>
            <a:off x="2011680" y="2112264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조항 내 단어가 정확히 일치해야 검색 가능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9"/>
          <p:cNvSpPr/>
          <p:nvPr/>
        </p:nvSpPr>
        <p:spPr>
          <a:xfrm>
            <a:off x="5623560" y="211226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모호한 법률 표현 뒤에 숨겨진 리스크 탐지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9"/>
          <p:cNvSpPr/>
          <p:nvPr/>
        </p:nvSpPr>
        <p:spPr>
          <a:xfrm>
            <a:off x="274320" y="2532888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② 실전 비교 — "왜 우리가 시멘틱 서치를 고집했는가?"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9"/>
          <p:cNvSpPr/>
          <p:nvPr/>
        </p:nvSpPr>
        <p:spPr>
          <a:xfrm>
            <a:off x="274320" y="2779776"/>
            <a:ext cx="8595360" cy="246888"/>
          </a:xfrm>
          <a:prstGeom prst="rect">
            <a:avLst/>
          </a:prstGeom>
          <a:solidFill>
            <a:srgbClr val="EBF7F8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19"/>
          <p:cNvSpPr/>
          <p:nvPr/>
        </p:nvSpPr>
        <p:spPr>
          <a:xfrm>
            <a:off x="365760" y="2779776"/>
            <a:ext cx="8412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5F6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5F6D"/>
                </a:solidFill>
                <a:latin typeface="Calibri"/>
                <a:ea typeface="Calibri"/>
                <a:cs typeface="Calibri"/>
                <a:sym typeface="Calibri"/>
              </a:rPr>
              <a:t>🔎 시나리오: </a:t>
            </a:r>
            <a:r>
              <a:rPr b="0" i="1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"근로자가 계약 기간을 채우지 못하고 퇴사할 경우, 교육비 명목으로 500만 원을 배상한다."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9"/>
          <p:cNvSpPr/>
          <p:nvPr/>
        </p:nvSpPr>
        <p:spPr>
          <a:xfrm>
            <a:off x="274320" y="3063240"/>
            <a:ext cx="4206240" cy="1988820"/>
          </a:xfrm>
          <a:prstGeom prst="rect">
            <a:avLst/>
          </a:prstGeom>
          <a:solidFill>
            <a:srgbClr val="FEF9F9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9"/>
          <p:cNvSpPr/>
          <p:nvPr/>
        </p:nvSpPr>
        <p:spPr>
          <a:xfrm>
            <a:off x="274320" y="3063240"/>
            <a:ext cx="4206240" cy="25603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9"/>
          <p:cNvSpPr/>
          <p:nvPr/>
        </p:nvSpPr>
        <p:spPr>
          <a:xfrm>
            <a:off x="320040" y="306324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  CASE 1 — 일반 키워드 검색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9"/>
          <p:cNvSpPr/>
          <p:nvPr/>
        </p:nvSpPr>
        <p:spPr>
          <a:xfrm>
            <a:off x="347472" y="335584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작동 방식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9"/>
          <p:cNvSpPr/>
          <p:nvPr/>
        </p:nvSpPr>
        <p:spPr>
          <a:xfrm>
            <a:off x="1280160" y="3355848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'퇴사', '교육비', '배상' 단어를 DB에서 탐색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9"/>
          <p:cNvSpPr/>
          <p:nvPr/>
        </p:nvSpPr>
        <p:spPr>
          <a:xfrm>
            <a:off x="347472" y="381304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검색 결과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9"/>
          <p:cNvSpPr/>
          <p:nvPr/>
        </p:nvSpPr>
        <p:spPr>
          <a:xfrm>
            <a:off x="1280160" y="3813048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"퇴사 시 비품 반납 안내"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"교육비 지원 규정"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→ 단어는 겹치나 의도가 전혀 다른 정보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9"/>
          <p:cNvSpPr/>
          <p:nvPr/>
        </p:nvSpPr>
        <p:spPr>
          <a:xfrm>
            <a:off x="347472" y="427024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활용도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9"/>
          <p:cNvSpPr/>
          <p:nvPr/>
        </p:nvSpPr>
        <p:spPr>
          <a:xfrm>
            <a:off x="1280160" y="4270248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결과 리스트를 직접 읽으며 "운 좋게"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맞는 내용을 찾아야 함 (수동적·저효율)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9"/>
          <p:cNvSpPr/>
          <p:nvPr/>
        </p:nvSpPr>
        <p:spPr>
          <a:xfrm>
            <a:off x="347472" y="4741164"/>
            <a:ext cx="4059936" cy="237744"/>
          </a:xfrm>
          <a:prstGeom prst="rect">
            <a:avLst/>
          </a:prstGeom>
          <a:solidFill>
            <a:srgbClr val="FDECEA"/>
          </a:solidFill>
          <a:ln cap="flat" cmpd="sng" w="9525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19"/>
          <p:cNvSpPr/>
          <p:nvPr/>
        </p:nvSpPr>
        <p:spPr>
          <a:xfrm>
            <a:off x="384048" y="4741164"/>
            <a:ext cx="39867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법률 전문 용어를 모르면 검색 자체가 불가능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9"/>
          <p:cNvSpPr/>
          <p:nvPr/>
        </p:nvSpPr>
        <p:spPr>
          <a:xfrm>
            <a:off x="4663440" y="3063240"/>
            <a:ext cx="4206240" cy="1988820"/>
          </a:xfrm>
          <a:prstGeom prst="rect">
            <a:avLst/>
          </a:prstGeom>
          <a:solidFill>
            <a:srgbClr val="F0FAFA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9"/>
          <p:cNvSpPr/>
          <p:nvPr/>
        </p:nvSpPr>
        <p:spPr>
          <a:xfrm>
            <a:off x="4663440" y="3063240"/>
            <a:ext cx="4206240" cy="2560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9"/>
          <p:cNvSpPr/>
          <p:nvPr/>
        </p:nvSpPr>
        <p:spPr>
          <a:xfrm>
            <a:off x="4709160" y="306324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CASE 2 — ANTIDOTE 시멘틱 서치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9"/>
          <p:cNvSpPr/>
          <p:nvPr/>
        </p:nvSpPr>
        <p:spPr>
          <a:xfrm>
            <a:off x="4736592" y="335584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5F6D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25F6D"/>
                </a:solidFill>
                <a:latin typeface="Calibri"/>
                <a:ea typeface="Calibri"/>
                <a:cs typeface="Calibri"/>
                <a:sym typeface="Calibri"/>
              </a:rPr>
              <a:t>작동 방식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9"/>
          <p:cNvSpPr/>
          <p:nvPr/>
        </p:nvSpPr>
        <p:spPr>
          <a:xfrm>
            <a:off x="5669280" y="3355848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'중도 퇴사 시 비용 청구'라는 의미적 벡터 계산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9"/>
          <p:cNvSpPr/>
          <p:nvPr/>
        </p:nvSpPr>
        <p:spPr>
          <a:xfrm>
            <a:off x="4736592" y="381304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5F6D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25F6D"/>
                </a:solidFill>
                <a:latin typeface="Calibri"/>
                <a:ea typeface="Calibri"/>
                <a:cs typeface="Calibri"/>
                <a:sym typeface="Calibri"/>
              </a:rPr>
              <a:t>검색 결과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9"/>
          <p:cNvSpPr/>
          <p:nvPr/>
        </p:nvSpPr>
        <p:spPr>
          <a:xfrm>
            <a:off x="5669280" y="3813048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"위약금" 단어 없이도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근로기준법 제20조(위약 예정의 금지)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판례·법령을 정확히 탐지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9"/>
          <p:cNvSpPr/>
          <p:nvPr/>
        </p:nvSpPr>
        <p:spPr>
          <a:xfrm>
            <a:off x="4736592" y="427024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5F6D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25F6D"/>
                </a:solidFill>
                <a:latin typeface="Calibri"/>
                <a:ea typeface="Calibri"/>
                <a:cs typeface="Calibri"/>
                <a:sym typeface="Calibri"/>
              </a:rPr>
              <a:t>분석 결론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9"/>
          <p:cNvSpPr/>
          <p:nvPr/>
        </p:nvSpPr>
        <p:spPr>
          <a:xfrm>
            <a:off x="5669280" y="4270248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"이 조항은 교육비 명목이지만 실질적으로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위약금 예정에 해당→ 무효 가능성 높음"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(능동적 분석 / 고지능)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9"/>
          <p:cNvSpPr/>
          <p:nvPr/>
        </p:nvSpPr>
        <p:spPr>
          <a:xfrm>
            <a:off x="4736592" y="4741164"/>
            <a:ext cx="4059936" cy="237744"/>
          </a:xfrm>
          <a:prstGeom prst="rect">
            <a:avLst/>
          </a:prstGeom>
          <a:solidFill>
            <a:srgbClr val="E6F7F5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9"/>
          <p:cNvSpPr/>
          <p:nvPr/>
        </p:nvSpPr>
        <p:spPr>
          <a:xfrm>
            <a:off x="4773168" y="4741164"/>
            <a:ext cx="39867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5F6D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25F6D"/>
                </a:solidFill>
                <a:latin typeface="Calibri"/>
                <a:ea typeface="Calibri"/>
                <a:cs typeface="Calibri"/>
                <a:sym typeface="Calibri"/>
              </a:rPr>
              <a:t>✔ 일상 언어 → 법률 맥락 자동 연결 · RAG 신뢰성 보장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B"/>
        </a:solid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0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79C0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Cross-Encoder</a:t>
            </a:r>
            <a:endParaRPr b="1" sz="1050">
              <a:solidFill>
                <a:srgbClr val="79C0F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트러블슈팅  —  개발 과정의 도전과 해결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0"/>
          <p:cNvSpPr/>
          <p:nvPr/>
        </p:nvSpPr>
        <p:spPr>
          <a:xfrm>
            <a:off x="365760" y="1143000"/>
            <a:ext cx="841248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20"/>
          <p:cNvSpPr/>
          <p:nvPr/>
        </p:nvSpPr>
        <p:spPr>
          <a:xfrm>
            <a:off x="365760" y="1143000"/>
            <a:ext cx="91440" cy="11430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20"/>
          <p:cNvSpPr/>
          <p:nvPr/>
        </p:nvSpPr>
        <p:spPr>
          <a:xfrm>
            <a:off x="594360" y="12161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1B3A6B"/>
                </a:solidFill>
                <a:latin typeface="Arial Black"/>
                <a:ea typeface="Arial Black"/>
                <a:cs typeface="Arial Black"/>
                <a:sym typeface="Arial Black"/>
              </a:rPr>
              <a:t>초기 데이터 과소로 인한 오탐 폭발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0"/>
          <p:cNvSpPr/>
          <p:nvPr/>
        </p:nvSpPr>
        <p:spPr>
          <a:xfrm>
            <a:off x="594360" y="1508760"/>
            <a:ext cx="8092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문제: 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3,000건 초기 데이터셋만으로 학습 시 복잡한 법리적 인과관계 학습 한계 → 오탐(False Positive) 발생률이 예상보다 높음 </a:t>
            </a:r>
            <a:b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0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해결: 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실제 판례 2,400건 압축 + 근로기준법 전 조항 매칭 + 독소 시나리오 증강으로 총 7,000건 데이터 재건축 </a:t>
            </a:r>
            <a:b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050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결과: 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오탐률 획기적 감소, 정밀도(Precision) 0.95 달성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0"/>
          <p:cNvSpPr/>
          <p:nvPr/>
        </p:nvSpPr>
        <p:spPr>
          <a:xfrm>
            <a:off x="365760" y="2404872"/>
            <a:ext cx="841248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20"/>
          <p:cNvSpPr/>
          <p:nvPr/>
        </p:nvSpPr>
        <p:spPr>
          <a:xfrm>
            <a:off x="365760" y="2404872"/>
            <a:ext cx="91440" cy="11430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0"/>
          <p:cNvSpPr/>
          <p:nvPr/>
        </p:nvSpPr>
        <p:spPr>
          <a:xfrm>
            <a:off x="594360" y="247802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1B3A6B"/>
                </a:solidFill>
                <a:latin typeface="Arial Black"/>
                <a:ea typeface="Arial Black"/>
                <a:cs typeface="Arial Black"/>
                <a:sym typeface="Arial Black"/>
              </a:rPr>
              <a:t>전체 레이어 고정 시 학습 정체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0"/>
          <p:cNvSpPr/>
          <p:nvPr/>
        </p:nvSpPr>
        <p:spPr>
          <a:xfrm>
            <a:off x="594360" y="2770632"/>
            <a:ext cx="8092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문제: 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모델 전체 레이어를 동결한 상태로 학습하면 새로운 법리 패턴을 전혀 습득하지 못해 성능이 제자리걸음 </a:t>
            </a:r>
            <a:b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0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해결: 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상위 레이어(10, 11번)만 선택적으로 개방 → 이후 층별 학습률 차등으로 전 레이어 개방하되 하위 레이어는 낮은 학습률 적용 </a:t>
            </a:r>
            <a:b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050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결과: 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정확도 17~25%p 폭발적 상승, 기존 한국어 지능 보존과 법리 학습 동시 달성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0"/>
          <p:cNvSpPr/>
          <p:nvPr/>
        </p:nvSpPr>
        <p:spPr>
          <a:xfrm>
            <a:off x="365760" y="3666744"/>
            <a:ext cx="841248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20"/>
          <p:cNvSpPr/>
          <p:nvPr/>
        </p:nvSpPr>
        <p:spPr>
          <a:xfrm>
            <a:off x="365760" y="3666744"/>
            <a:ext cx="91440" cy="11430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20"/>
          <p:cNvSpPr/>
          <p:nvPr/>
        </p:nvSpPr>
        <p:spPr>
          <a:xfrm>
            <a:off x="594360" y="37398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1B3A6B"/>
                </a:solidFill>
                <a:latin typeface="Arial Black"/>
                <a:ea typeface="Arial Black"/>
                <a:cs typeface="Arial Black"/>
                <a:sym typeface="Arial Black"/>
              </a:rPr>
              <a:t>학습 후반부 법리 미세 차이 미반영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0"/>
          <p:cNvSpPr/>
          <p:nvPr/>
        </p:nvSpPr>
        <p:spPr>
          <a:xfrm>
            <a:off x="594360" y="4032504"/>
            <a:ext cx="8092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문제: 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Plateau 스케줄러 사용 시 학습 후반에 유사한 법령·판례 간의 미세한 의미 차이를 구분하지 못하고 수렴 정체 발생 </a:t>
            </a:r>
            <a:b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0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해결: 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Cosine 스케줄러로 교체 + Focal Loss(경계 사례 집중) + R-Drop(논리 일관성 강제) 결합 </a:t>
            </a:r>
            <a:b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050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결과: 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F1-Score 0.93, 임계값 0.54 기준 정밀도·재현율 최적 균형 확보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21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프로젝트 성과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1"/>
          <p:cNvSpPr/>
          <p:nvPr/>
        </p:nvSpPr>
        <p:spPr>
          <a:xfrm>
            <a:off x="457200" y="749808"/>
            <a:ext cx="2011680" cy="5486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21"/>
          <p:cNvSpPr/>
          <p:nvPr/>
        </p:nvSpPr>
        <p:spPr>
          <a:xfrm>
            <a:off x="411480" y="896112"/>
            <a:ext cx="2633472" cy="1572768"/>
          </a:xfrm>
          <a:prstGeom prst="rect">
            <a:avLst/>
          </a:prstGeom>
          <a:solidFill>
            <a:srgbClr val="142E56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21"/>
          <p:cNvSpPr/>
          <p:nvPr/>
        </p:nvSpPr>
        <p:spPr>
          <a:xfrm>
            <a:off x="411480" y="896112"/>
            <a:ext cx="2633472" cy="914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1"/>
          <p:cNvSpPr/>
          <p:nvPr/>
        </p:nvSpPr>
        <p:spPr>
          <a:xfrm>
            <a:off x="411480" y="1005840"/>
            <a:ext cx="263347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4000"/>
              <a:buFont typeface="Arial Black"/>
              <a:buNone/>
            </a:pPr>
            <a:r>
              <a:rPr b="1" lang="en-US" sz="40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95</a:t>
            </a:r>
            <a:r>
              <a:rPr b="1" lang="en-US" sz="4000">
                <a:solidFill>
                  <a:srgbClr val="028090"/>
                </a:solidFill>
                <a:latin typeface="Arial Black"/>
                <a:ea typeface="Arial Black"/>
                <a:cs typeface="Arial Black"/>
                <a:sym typeface="Arial Black"/>
              </a:rPr>
              <a:t>%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1"/>
          <p:cNvSpPr/>
          <p:nvPr/>
        </p:nvSpPr>
        <p:spPr>
          <a:xfrm>
            <a:off x="484632" y="1737360"/>
            <a:ext cx="24871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독소조항 탐지 정확도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1"/>
          <p:cNvSpPr/>
          <p:nvPr/>
        </p:nvSpPr>
        <p:spPr>
          <a:xfrm>
            <a:off x="484632" y="2075688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AFC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AFC8"/>
                </a:solidFill>
                <a:latin typeface="Calibri"/>
                <a:ea typeface="Calibri"/>
                <a:cs typeface="Calibri"/>
                <a:sym typeface="Calibri"/>
              </a:rPr>
              <a:t>테스트 케이스 50개 기준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1"/>
          <p:cNvSpPr/>
          <p:nvPr/>
        </p:nvSpPr>
        <p:spPr>
          <a:xfrm>
            <a:off x="3264408" y="896112"/>
            <a:ext cx="2633472" cy="1572768"/>
          </a:xfrm>
          <a:prstGeom prst="rect">
            <a:avLst/>
          </a:prstGeom>
          <a:solidFill>
            <a:srgbClr val="142E56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21"/>
          <p:cNvSpPr/>
          <p:nvPr/>
        </p:nvSpPr>
        <p:spPr>
          <a:xfrm>
            <a:off x="3264408" y="896112"/>
            <a:ext cx="2633472" cy="9144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21"/>
          <p:cNvSpPr/>
          <p:nvPr/>
        </p:nvSpPr>
        <p:spPr>
          <a:xfrm>
            <a:off x="3264408" y="1005840"/>
            <a:ext cx="263347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4000"/>
              <a:buFont typeface="Arial Black"/>
              <a:buNone/>
            </a:pPr>
            <a:r>
              <a:rPr b="1" lang="en-US" sz="4000">
                <a:solidFill>
                  <a:srgbClr val="F4A261"/>
                </a:solidFill>
                <a:latin typeface="Arial Black"/>
                <a:ea typeface="Arial Black"/>
                <a:cs typeface="Arial Black"/>
                <a:sym typeface="Arial Black"/>
              </a:rPr>
              <a:t>2.3초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1"/>
          <p:cNvSpPr/>
          <p:nvPr/>
        </p:nvSpPr>
        <p:spPr>
          <a:xfrm>
            <a:off x="3337560" y="1737360"/>
            <a:ext cx="24871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평균 분석 응답 시간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1"/>
          <p:cNvSpPr/>
          <p:nvPr/>
        </p:nvSpPr>
        <p:spPr>
          <a:xfrm>
            <a:off x="3337560" y="2075688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AFC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AFC8"/>
                </a:solidFill>
                <a:latin typeface="Calibri"/>
                <a:ea typeface="Calibri"/>
                <a:cs typeface="Calibri"/>
                <a:sym typeface="Calibri"/>
              </a:rPr>
              <a:t>청킹 최적화 후 기준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1"/>
          <p:cNvSpPr/>
          <p:nvPr/>
        </p:nvSpPr>
        <p:spPr>
          <a:xfrm>
            <a:off x="6117336" y="896112"/>
            <a:ext cx="2633472" cy="1572768"/>
          </a:xfrm>
          <a:prstGeom prst="rect">
            <a:avLst/>
          </a:prstGeom>
          <a:solidFill>
            <a:srgbClr val="142E56"/>
          </a:solidFill>
          <a:ln cap="flat" cmpd="sng" w="1905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1"/>
          <p:cNvSpPr/>
          <p:nvPr/>
        </p:nvSpPr>
        <p:spPr>
          <a:xfrm>
            <a:off x="6117336" y="896112"/>
            <a:ext cx="2633472" cy="914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1"/>
          <p:cNvSpPr/>
          <p:nvPr/>
        </p:nvSpPr>
        <p:spPr>
          <a:xfrm>
            <a:off x="6117336" y="1005840"/>
            <a:ext cx="263347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4000"/>
              <a:buFont typeface="Arial Black"/>
              <a:buNone/>
            </a:pPr>
            <a:r>
              <a:rPr b="1" lang="en-US" sz="4000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3종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1"/>
          <p:cNvSpPr/>
          <p:nvPr/>
        </p:nvSpPr>
        <p:spPr>
          <a:xfrm>
            <a:off x="6190488" y="1737360"/>
            <a:ext cx="24871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주요 독소조항 유형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1"/>
          <p:cNvSpPr/>
          <p:nvPr/>
        </p:nvSpPr>
        <p:spPr>
          <a:xfrm>
            <a:off x="6190488" y="2075688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AFC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AFC8"/>
                </a:solidFill>
                <a:latin typeface="Calibri"/>
                <a:ea typeface="Calibri"/>
                <a:cs typeface="Calibri"/>
                <a:sym typeface="Calibri"/>
              </a:rPr>
              <a:t>임금·퇴직금·근무시간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1"/>
          <p:cNvSpPr/>
          <p:nvPr/>
        </p:nvSpPr>
        <p:spPr>
          <a:xfrm>
            <a:off x="411480" y="2514600"/>
            <a:ext cx="8321040" cy="3474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21"/>
          <p:cNvSpPr/>
          <p:nvPr/>
        </p:nvSpPr>
        <p:spPr>
          <a:xfrm>
            <a:off x="502920" y="2542032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기술 검증 시나리오  —  실제 테스트 케이스 결과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1"/>
          <p:cNvSpPr/>
          <p:nvPr/>
        </p:nvSpPr>
        <p:spPr>
          <a:xfrm>
            <a:off x="411480" y="2871216"/>
            <a:ext cx="2194560" cy="3200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2A5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21"/>
          <p:cNvSpPr/>
          <p:nvPr/>
        </p:nvSpPr>
        <p:spPr>
          <a:xfrm>
            <a:off x="457200" y="289864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00A896"/>
                </a:solidFill>
                <a:latin typeface="Arial Black"/>
                <a:ea typeface="Arial Black"/>
                <a:cs typeface="Arial Black"/>
                <a:sym typeface="Arial Black"/>
              </a:rPr>
              <a:t>테스트 시나리오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1"/>
          <p:cNvSpPr/>
          <p:nvPr/>
        </p:nvSpPr>
        <p:spPr>
          <a:xfrm>
            <a:off x="2633472" y="2871216"/>
            <a:ext cx="2926080" cy="3200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2A5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21"/>
          <p:cNvSpPr/>
          <p:nvPr/>
        </p:nvSpPr>
        <p:spPr>
          <a:xfrm>
            <a:off x="2679192" y="289864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00A896"/>
                </a:solidFill>
                <a:latin typeface="Arial Black"/>
                <a:ea typeface="Arial Black"/>
                <a:cs typeface="Arial Black"/>
                <a:sym typeface="Arial Black"/>
              </a:rPr>
              <a:t>테스트 계약 조항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1"/>
          <p:cNvSpPr/>
          <p:nvPr/>
        </p:nvSpPr>
        <p:spPr>
          <a:xfrm>
            <a:off x="5596128" y="2871216"/>
            <a:ext cx="1463040" cy="3200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2A5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21"/>
          <p:cNvSpPr/>
          <p:nvPr/>
        </p:nvSpPr>
        <p:spPr>
          <a:xfrm>
            <a:off x="5641848" y="289864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00A896"/>
                </a:solidFill>
                <a:latin typeface="Arial Black"/>
                <a:ea typeface="Arial Black"/>
                <a:cs typeface="Arial Black"/>
                <a:sym typeface="Arial Black"/>
              </a:rPr>
              <a:t>결과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1"/>
          <p:cNvSpPr/>
          <p:nvPr/>
        </p:nvSpPr>
        <p:spPr>
          <a:xfrm>
            <a:off x="7086600" y="2871216"/>
            <a:ext cx="1645920" cy="3200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2A5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1"/>
          <p:cNvSpPr/>
          <p:nvPr/>
        </p:nvSpPr>
        <p:spPr>
          <a:xfrm>
            <a:off x="7132320" y="2898648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00A896"/>
                </a:solidFill>
                <a:latin typeface="Arial Black"/>
                <a:ea typeface="Arial Black"/>
                <a:cs typeface="Arial Black"/>
                <a:sym typeface="Arial Black"/>
              </a:rPr>
              <a:t>위험률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1"/>
          <p:cNvSpPr/>
          <p:nvPr/>
        </p:nvSpPr>
        <p:spPr>
          <a:xfrm>
            <a:off x="411480" y="3200400"/>
            <a:ext cx="8321040" cy="329184"/>
          </a:xfrm>
          <a:prstGeom prst="rect">
            <a:avLst/>
          </a:prstGeom>
          <a:solidFill>
            <a:srgbClr val="192E4E"/>
          </a:solidFill>
          <a:ln cap="flat" cmpd="sng" w="9525">
            <a:solidFill>
              <a:srgbClr val="2A5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21"/>
          <p:cNvSpPr/>
          <p:nvPr/>
        </p:nvSpPr>
        <p:spPr>
          <a:xfrm>
            <a:off x="457200" y="3255264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0E8F5"/>
                </a:solidFill>
                <a:latin typeface="Calibri"/>
                <a:ea typeface="Calibri"/>
                <a:cs typeface="Calibri"/>
                <a:sym typeface="Calibri"/>
              </a:rPr>
              <a:t>퇴직금 배제 조항 탐지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1"/>
          <p:cNvSpPr/>
          <p:nvPr/>
        </p:nvSpPr>
        <p:spPr>
          <a:xfrm>
            <a:off x="2679192" y="3255264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F0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A8D5F0"/>
                </a:solidFill>
                <a:latin typeface="Calibri"/>
                <a:ea typeface="Calibri"/>
                <a:cs typeface="Calibri"/>
                <a:sym typeface="Calibri"/>
              </a:rPr>
              <a:t>"1년 미만 시 퇴직금 미지급"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1"/>
          <p:cNvSpPr/>
          <p:nvPr/>
        </p:nvSpPr>
        <p:spPr>
          <a:xfrm>
            <a:off x="5641848" y="3255264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✅ 탐지 성공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1"/>
          <p:cNvSpPr/>
          <p:nvPr/>
        </p:nvSpPr>
        <p:spPr>
          <a:xfrm>
            <a:off x="7132320" y="325526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F4A261"/>
                </a:solidFill>
                <a:latin typeface="Arial Black"/>
                <a:ea typeface="Arial Black"/>
                <a:cs typeface="Arial Black"/>
                <a:sym typeface="Arial Black"/>
              </a:rPr>
              <a:t>97.65%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1"/>
          <p:cNvSpPr/>
          <p:nvPr/>
        </p:nvSpPr>
        <p:spPr>
          <a:xfrm>
            <a:off x="411480" y="3547872"/>
            <a:ext cx="8321040" cy="329184"/>
          </a:xfrm>
          <a:prstGeom prst="rect">
            <a:avLst/>
          </a:prstGeom>
          <a:solidFill>
            <a:srgbClr val="162840"/>
          </a:solidFill>
          <a:ln cap="flat" cmpd="sng" w="9525">
            <a:solidFill>
              <a:srgbClr val="2A5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1"/>
          <p:cNvSpPr/>
          <p:nvPr/>
        </p:nvSpPr>
        <p:spPr>
          <a:xfrm>
            <a:off x="457200" y="3602736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0E8F5"/>
                </a:solidFill>
                <a:latin typeface="Calibri"/>
                <a:ea typeface="Calibri"/>
                <a:cs typeface="Calibri"/>
                <a:sym typeface="Calibri"/>
              </a:rPr>
              <a:t>연장근로 수당 배제 탐지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1"/>
          <p:cNvSpPr/>
          <p:nvPr/>
        </p:nvSpPr>
        <p:spPr>
          <a:xfrm>
            <a:off x="2679192" y="3602736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F0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A8D5F0"/>
                </a:solidFill>
                <a:latin typeface="Calibri"/>
                <a:ea typeface="Calibri"/>
                <a:cs typeface="Calibri"/>
                <a:sym typeface="Calibri"/>
              </a:rPr>
              <a:t>"소정근로 외 급여 산정 제외"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1"/>
          <p:cNvSpPr/>
          <p:nvPr/>
        </p:nvSpPr>
        <p:spPr>
          <a:xfrm>
            <a:off x="5641848" y="3602736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✅ 탐지 성공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1"/>
          <p:cNvSpPr/>
          <p:nvPr/>
        </p:nvSpPr>
        <p:spPr>
          <a:xfrm>
            <a:off x="7132320" y="3602736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F4A261"/>
                </a:solidFill>
                <a:latin typeface="Arial Black"/>
                <a:ea typeface="Arial Black"/>
                <a:cs typeface="Arial Black"/>
                <a:sym typeface="Arial Black"/>
              </a:rPr>
              <a:t>97%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1"/>
          <p:cNvSpPr/>
          <p:nvPr/>
        </p:nvSpPr>
        <p:spPr>
          <a:xfrm>
            <a:off x="411480" y="3895344"/>
            <a:ext cx="8321040" cy="329184"/>
          </a:xfrm>
          <a:prstGeom prst="rect">
            <a:avLst/>
          </a:prstGeom>
          <a:solidFill>
            <a:srgbClr val="192E4E"/>
          </a:solidFill>
          <a:ln cap="flat" cmpd="sng" w="9525">
            <a:solidFill>
              <a:srgbClr val="2A5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21"/>
          <p:cNvSpPr/>
          <p:nvPr/>
        </p:nvSpPr>
        <p:spPr>
          <a:xfrm>
            <a:off x="457200" y="3950208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0E8F5"/>
                </a:solidFill>
                <a:latin typeface="Calibri"/>
                <a:ea typeface="Calibri"/>
                <a:cs typeface="Calibri"/>
                <a:sym typeface="Calibri"/>
              </a:rPr>
              <a:t>일방적 계약 해지 조항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1"/>
          <p:cNvSpPr/>
          <p:nvPr/>
        </p:nvSpPr>
        <p:spPr>
          <a:xfrm>
            <a:off x="2679192" y="395020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F0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A8D5F0"/>
                </a:solidFill>
                <a:latin typeface="Calibri"/>
                <a:ea typeface="Calibri"/>
                <a:cs typeface="Calibri"/>
                <a:sym typeface="Calibri"/>
              </a:rPr>
              <a:t>"사용자 임의로 계약 해지 가능"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1"/>
          <p:cNvSpPr/>
          <p:nvPr/>
        </p:nvSpPr>
        <p:spPr>
          <a:xfrm>
            <a:off x="5641848" y="395020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✅ 탐지 성공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1"/>
          <p:cNvSpPr/>
          <p:nvPr/>
        </p:nvSpPr>
        <p:spPr>
          <a:xfrm>
            <a:off x="7132320" y="3950208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F4A261"/>
                </a:solidFill>
                <a:latin typeface="Arial Black"/>
                <a:ea typeface="Arial Black"/>
                <a:cs typeface="Arial Black"/>
                <a:sym typeface="Arial Black"/>
              </a:rPr>
              <a:t>97.85%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1"/>
          <p:cNvSpPr/>
          <p:nvPr/>
        </p:nvSpPr>
        <p:spPr>
          <a:xfrm>
            <a:off x="411480" y="4242816"/>
            <a:ext cx="8321040" cy="329184"/>
          </a:xfrm>
          <a:prstGeom prst="rect">
            <a:avLst/>
          </a:prstGeom>
          <a:solidFill>
            <a:srgbClr val="162840"/>
          </a:solidFill>
          <a:ln cap="flat" cmpd="sng" w="9525">
            <a:solidFill>
              <a:srgbClr val="2A5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21"/>
          <p:cNvSpPr/>
          <p:nvPr/>
        </p:nvSpPr>
        <p:spPr>
          <a:xfrm>
            <a:off x="457200" y="4297680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0E8F5"/>
                </a:solidFill>
                <a:latin typeface="Calibri"/>
                <a:ea typeface="Calibri"/>
                <a:cs typeface="Calibri"/>
                <a:sym typeface="Calibri"/>
              </a:rPr>
              <a:t>키워드 없는 변형 독소조항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1"/>
          <p:cNvSpPr/>
          <p:nvPr/>
        </p:nvSpPr>
        <p:spPr>
          <a:xfrm>
            <a:off x="2679192" y="4297680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F0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A8D5F0"/>
                </a:solidFill>
                <a:latin typeface="Calibri"/>
                <a:ea typeface="Calibri"/>
                <a:cs typeface="Calibri"/>
                <a:sym typeface="Calibri"/>
              </a:rPr>
              <a:t>"근무 기간 산정 시 수습 제외"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1"/>
          <p:cNvSpPr/>
          <p:nvPr/>
        </p:nvSpPr>
        <p:spPr>
          <a:xfrm>
            <a:off x="5641848" y="42976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✅ 탐지 성공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1"/>
          <p:cNvSpPr/>
          <p:nvPr/>
        </p:nvSpPr>
        <p:spPr>
          <a:xfrm>
            <a:off x="7132320" y="429768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F4A261"/>
                </a:solidFill>
                <a:latin typeface="Arial Black"/>
                <a:ea typeface="Arial Black"/>
                <a:cs typeface="Arial Black"/>
                <a:sym typeface="Arial Black"/>
              </a:rPr>
              <a:t>97.58</a:t>
            </a:r>
            <a:r>
              <a:rPr b="1" lang="en-US" sz="1100">
                <a:solidFill>
                  <a:srgbClr val="F4A261"/>
                </a:solidFill>
                <a:latin typeface="Arial Black"/>
                <a:ea typeface="Arial Black"/>
                <a:cs typeface="Arial Black"/>
                <a:sym typeface="Arial Black"/>
              </a:rPr>
              <a:t>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1"/>
          <p:cNvSpPr/>
          <p:nvPr/>
        </p:nvSpPr>
        <p:spPr>
          <a:xfrm>
            <a:off x="411480" y="4590288"/>
            <a:ext cx="8321040" cy="329184"/>
          </a:xfrm>
          <a:prstGeom prst="rect">
            <a:avLst/>
          </a:prstGeom>
          <a:solidFill>
            <a:srgbClr val="192E4E"/>
          </a:solidFill>
          <a:ln cap="flat" cmpd="sng" w="9525">
            <a:solidFill>
              <a:srgbClr val="2A5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21"/>
          <p:cNvSpPr/>
          <p:nvPr/>
        </p:nvSpPr>
        <p:spPr>
          <a:xfrm>
            <a:off x="457200" y="4645152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0E8F5"/>
                </a:solidFill>
                <a:latin typeface="Calibri"/>
                <a:ea typeface="Calibri"/>
                <a:cs typeface="Calibri"/>
                <a:sym typeface="Calibri"/>
              </a:rPr>
              <a:t>정상 조항 오탐 여부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1"/>
          <p:cNvSpPr/>
          <p:nvPr/>
        </p:nvSpPr>
        <p:spPr>
          <a:xfrm>
            <a:off x="2679192" y="4645152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F0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A8D5F0"/>
                </a:solidFill>
                <a:latin typeface="Calibri"/>
                <a:ea typeface="Calibri"/>
                <a:cs typeface="Calibri"/>
                <a:sym typeface="Calibri"/>
              </a:rPr>
              <a:t>"임금은 매월 25일 지급한다"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1"/>
          <p:cNvSpPr/>
          <p:nvPr/>
        </p:nvSpPr>
        <p:spPr>
          <a:xfrm>
            <a:off x="5641848" y="464515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✅ 정상 판별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1"/>
          <p:cNvSpPr/>
          <p:nvPr/>
        </p:nvSpPr>
        <p:spPr>
          <a:xfrm>
            <a:off x="7132320" y="4645152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F4A261"/>
                </a:solidFill>
                <a:latin typeface="Arial Black"/>
                <a:ea typeface="Arial Black"/>
                <a:cs typeface="Arial Black"/>
                <a:sym typeface="Arial Black"/>
              </a:rPr>
              <a:t>1.88</a:t>
            </a:r>
            <a:r>
              <a:rPr b="1" lang="en-US" sz="1100">
                <a:solidFill>
                  <a:srgbClr val="F4A261"/>
                </a:solidFill>
                <a:latin typeface="Arial Black"/>
                <a:ea typeface="Arial Black"/>
                <a:cs typeface="Arial Black"/>
                <a:sym typeface="Arial Black"/>
              </a:rPr>
              <a:t>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B"/>
        </a:solidFill>
      </p:bgPr>
    </p:bg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2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2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향후 개선 방향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2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22"/>
          <p:cNvSpPr/>
          <p:nvPr/>
        </p:nvSpPr>
        <p:spPr>
          <a:xfrm>
            <a:off x="365760" y="1188720"/>
            <a:ext cx="1097280" cy="109728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22"/>
          <p:cNvSpPr/>
          <p:nvPr/>
        </p:nvSpPr>
        <p:spPr>
          <a:xfrm>
            <a:off x="365760" y="13716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lang="en-US" sz="16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단기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2"/>
          <p:cNvSpPr/>
          <p:nvPr/>
        </p:nvSpPr>
        <p:spPr>
          <a:xfrm>
            <a:off x="365760" y="1755648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3개월 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2"/>
          <p:cNvSpPr/>
          <p:nvPr/>
        </p:nvSpPr>
        <p:spPr>
          <a:xfrm>
            <a:off x="1600200" y="1353312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▶  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정확도 향상을 위한 추가 학습 데이터 수집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2"/>
          <p:cNvSpPr/>
          <p:nvPr/>
        </p:nvSpPr>
        <p:spPr>
          <a:xfrm>
            <a:off x="1600200" y="1810512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▶  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외국인 노동자를 위한 다국어 지원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2"/>
          <p:cNvSpPr/>
          <p:nvPr/>
        </p:nvSpPr>
        <p:spPr>
          <a:xfrm>
            <a:off x="365760" y="2423160"/>
            <a:ext cx="841248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22"/>
          <p:cNvSpPr/>
          <p:nvPr/>
        </p:nvSpPr>
        <p:spPr>
          <a:xfrm>
            <a:off x="365760" y="2423160"/>
            <a:ext cx="1097280" cy="109728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22"/>
          <p:cNvSpPr/>
          <p:nvPr/>
        </p:nvSpPr>
        <p:spPr>
          <a:xfrm>
            <a:off x="365760" y="26060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lang="en-US" sz="16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중기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2"/>
          <p:cNvSpPr/>
          <p:nvPr/>
        </p:nvSpPr>
        <p:spPr>
          <a:xfrm>
            <a:off x="365760" y="2990088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6개월 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2"/>
          <p:cNvSpPr/>
          <p:nvPr/>
        </p:nvSpPr>
        <p:spPr>
          <a:xfrm>
            <a:off x="1600200" y="2587752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▶  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전세 계약서·프리랜서 계약서로 영역 확장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2"/>
          <p:cNvSpPr/>
          <p:nvPr/>
        </p:nvSpPr>
        <p:spPr>
          <a:xfrm>
            <a:off x="1600200" y="3044952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▶  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법률 전문가 자문 시스템 연동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2"/>
          <p:cNvSpPr/>
          <p:nvPr/>
        </p:nvSpPr>
        <p:spPr>
          <a:xfrm>
            <a:off x="365760" y="3657600"/>
            <a:ext cx="841248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22"/>
          <p:cNvSpPr/>
          <p:nvPr/>
        </p:nvSpPr>
        <p:spPr>
          <a:xfrm>
            <a:off x="365760" y="3657600"/>
            <a:ext cx="1097280" cy="109728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22"/>
          <p:cNvSpPr/>
          <p:nvPr/>
        </p:nvSpPr>
        <p:spPr>
          <a:xfrm>
            <a:off x="365760" y="38404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lang="en-US" sz="16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장기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2"/>
          <p:cNvSpPr/>
          <p:nvPr/>
        </p:nvSpPr>
        <p:spPr>
          <a:xfrm>
            <a:off x="365760" y="4224528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1년 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2"/>
          <p:cNvSpPr/>
          <p:nvPr/>
        </p:nvSpPr>
        <p:spPr>
          <a:xfrm>
            <a:off x="1600200" y="3822192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▶  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모바일 앱 출시 (iOS / Android)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2"/>
          <p:cNvSpPr/>
          <p:nvPr/>
        </p:nvSpPr>
        <p:spPr>
          <a:xfrm>
            <a:off x="1600200" y="4279392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▶  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기업용 B2B 솔루션 패키지 개발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22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solidFill>
            <a:srgbClr val="E8F7F5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22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궁극적 목표: 법률 약자 누구나 공정한 계약을 체결할 수 있는 세상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3"/>
          <p:cNvSpPr/>
          <p:nvPr/>
        </p:nvSpPr>
        <p:spPr>
          <a:xfrm>
            <a:off x="365760" y="13716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1B3A6B"/>
                </a:solidFill>
                <a:latin typeface="Arial Black"/>
                <a:ea typeface="Arial Black"/>
                <a:cs typeface="Arial Black"/>
                <a:sym typeface="Arial Black"/>
              </a:rPr>
              <a:t>프로젝트 일정  —  계획 vs 실제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23"/>
          <p:cNvSpPr/>
          <p:nvPr/>
        </p:nvSpPr>
        <p:spPr>
          <a:xfrm>
            <a:off x="384048" y="61264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Georgia"/>
              <a:buNone/>
            </a:pPr>
            <a:r>
              <a:rPr b="0" i="1" lang="en-US" sz="1150" u="none" cap="none" strike="noStrike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총 2개 단계에서 각 1일씩 지연 발생  |  나머지 5개 단계 계획 대비 정상 완료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3"/>
          <p:cNvSpPr/>
          <p:nvPr/>
        </p:nvSpPr>
        <p:spPr>
          <a:xfrm>
            <a:off x="6675120" y="201168"/>
            <a:ext cx="182880" cy="182880"/>
          </a:xfrm>
          <a:prstGeom prst="rect">
            <a:avLst/>
          </a:prstGeom>
          <a:solidFill>
            <a:srgbClr val="A8D8DC"/>
          </a:solidFill>
          <a:ln cap="flat" cmpd="sng" w="12700">
            <a:solidFill>
              <a:srgbClr val="A8D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23"/>
          <p:cNvSpPr/>
          <p:nvPr/>
        </p:nvSpPr>
        <p:spPr>
          <a:xfrm>
            <a:off x="6894576" y="201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계획 기간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3"/>
          <p:cNvSpPr/>
          <p:nvPr/>
        </p:nvSpPr>
        <p:spPr>
          <a:xfrm>
            <a:off x="7479792" y="201168"/>
            <a:ext cx="182880" cy="18288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23"/>
          <p:cNvSpPr/>
          <p:nvPr/>
        </p:nvSpPr>
        <p:spPr>
          <a:xfrm>
            <a:off x="7699248" y="201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실제 달성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3"/>
          <p:cNvSpPr/>
          <p:nvPr/>
        </p:nvSpPr>
        <p:spPr>
          <a:xfrm>
            <a:off x="8284464" y="201168"/>
            <a:ext cx="182880" cy="18288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23"/>
          <p:cNvSpPr/>
          <p:nvPr/>
        </p:nvSpPr>
        <p:spPr>
          <a:xfrm>
            <a:off x="8503920" y="201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지연 구간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3"/>
          <p:cNvSpPr/>
          <p:nvPr/>
        </p:nvSpPr>
        <p:spPr>
          <a:xfrm>
            <a:off x="1417320" y="859536"/>
            <a:ext cx="4034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4/20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3"/>
          <p:cNvSpPr/>
          <p:nvPr/>
        </p:nvSpPr>
        <p:spPr>
          <a:xfrm>
            <a:off x="1820732" y="859536"/>
            <a:ext cx="4034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4/21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3"/>
          <p:cNvSpPr/>
          <p:nvPr/>
        </p:nvSpPr>
        <p:spPr>
          <a:xfrm>
            <a:off x="2224144" y="859536"/>
            <a:ext cx="4034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4/22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3"/>
          <p:cNvSpPr/>
          <p:nvPr/>
        </p:nvSpPr>
        <p:spPr>
          <a:xfrm>
            <a:off x="2627555" y="859536"/>
            <a:ext cx="4034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4/23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3"/>
          <p:cNvSpPr/>
          <p:nvPr/>
        </p:nvSpPr>
        <p:spPr>
          <a:xfrm>
            <a:off x="3030967" y="859536"/>
            <a:ext cx="4034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4/24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3"/>
          <p:cNvSpPr/>
          <p:nvPr/>
        </p:nvSpPr>
        <p:spPr>
          <a:xfrm>
            <a:off x="3434379" y="859536"/>
            <a:ext cx="4034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4/25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3"/>
          <p:cNvSpPr/>
          <p:nvPr/>
        </p:nvSpPr>
        <p:spPr>
          <a:xfrm>
            <a:off x="3837791" y="859536"/>
            <a:ext cx="4034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4/26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3"/>
          <p:cNvSpPr/>
          <p:nvPr/>
        </p:nvSpPr>
        <p:spPr>
          <a:xfrm>
            <a:off x="4241202" y="859536"/>
            <a:ext cx="4034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4/27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3"/>
          <p:cNvSpPr/>
          <p:nvPr/>
        </p:nvSpPr>
        <p:spPr>
          <a:xfrm>
            <a:off x="4644614" y="859536"/>
            <a:ext cx="4034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4/28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3"/>
          <p:cNvSpPr/>
          <p:nvPr/>
        </p:nvSpPr>
        <p:spPr>
          <a:xfrm>
            <a:off x="5048026" y="859536"/>
            <a:ext cx="4034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4/29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3"/>
          <p:cNvSpPr/>
          <p:nvPr/>
        </p:nvSpPr>
        <p:spPr>
          <a:xfrm>
            <a:off x="5451438" y="859536"/>
            <a:ext cx="4034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4/30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3"/>
          <p:cNvSpPr/>
          <p:nvPr/>
        </p:nvSpPr>
        <p:spPr>
          <a:xfrm>
            <a:off x="5854849" y="859536"/>
            <a:ext cx="4034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5/1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3"/>
          <p:cNvSpPr/>
          <p:nvPr/>
        </p:nvSpPr>
        <p:spPr>
          <a:xfrm>
            <a:off x="6258261" y="859536"/>
            <a:ext cx="4034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5/2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23"/>
          <p:cNvSpPr/>
          <p:nvPr/>
        </p:nvSpPr>
        <p:spPr>
          <a:xfrm>
            <a:off x="6661673" y="859536"/>
            <a:ext cx="4034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5/3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3"/>
          <p:cNvSpPr/>
          <p:nvPr/>
        </p:nvSpPr>
        <p:spPr>
          <a:xfrm>
            <a:off x="7065085" y="859536"/>
            <a:ext cx="4034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5/4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3"/>
          <p:cNvSpPr/>
          <p:nvPr/>
        </p:nvSpPr>
        <p:spPr>
          <a:xfrm>
            <a:off x="7468496" y="859536"/>
            <a:ext cx="4034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5/5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3"/>
          <p:cNvSpPr/>
          <p:nvPr/>
        </p:nvSpPr>
        <p:spPr>
          <a:xfrm>
            <a:off x="7871908" y="859536"/>
            <a:ext cx="4034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5/6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3"/>
          <p:cNvSpPr/>
          <p:nvPr/>
        </p:nvSpPr>
        <p:spPr>
          <a:xfrm>
            <a:off x="201168" y="987552"/>
            <a:ext cx="8732520" cy="411480"/>
          </a:xfrm>
          <a:prstGeom prst="rect">
            <a:avLst/>
          </a:prstGeom>
          <a:solidFill>
            <a:srgbClr val="ECFD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23"/>
          <p:cNvSpPr/>
          <p:nvPr/>
        </p:nvSpPr>
        <p:spPr>
          <a:xfrm>
            <a:off x="228600" y="1033272"/>
            <a:ext cx="11521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50"/>
              <a:buFont typeface="Arial Black"/>
              <a:buNone/>
            </a:pPr>
            <a:r>
              <a:rPr b="1" i="0" lang="en-US" sz="1050" u="none" cap="none" strike="noStrike">
                <a:solidFill>
                  <a:srgbClr val="1B3A6B"/>
                </a:solidFill>
                <a:latin typeface="Arial Black"/>
                <a:ea typeface="Arial Black"/>
                <a:cs typeface="Arial Black"/>
                <a:sym typeface="Arial Black"/>
              </a:rPr>
              <a:t>기획 및 설계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3"/>
          <p:cNvSpPr/>
          <p:nvPr/>
        </p:nvSpPr>
        <p:spPr>
          <a:xfrm>
            <a:off x="228600" y="1234440"/>
            <a:ext cx="115214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요구사항·아키텍처·ERD·API명세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3"/>
          <p:cNvSpPr/>
          <p:nvPr/>
        </p:nvSpPr>
        <p:spPr>
          <a:xfrm>
            <a:off x="1417320" y="987552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23"/>
          <p:cNvSpPr/>
          <p:nvPr/>
        </p:nvSpPr>
        <p:spPr>
          <a:xfrm>
            <a:off x="1820732" y="987552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23"/>
          <p:cNvSpPr/>
          <p:nvPr/>
        </p:nvSpPr>
        <p:spPr>
          <a:xfrm>
            <a:off x="2224144" y="987552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3"/>
          <p:cNvSpPr/>
          <p:nvPr/>
        </p:nvSpPr>
        <p:spPr>
          <a:xfrm>
            <a:off x="2627555" y="987552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23"/>
          <p:cNvSpPr/>
          <p:nvPr/>
        </p:nvSpPr>
        <p:spPr>
          <a:xfrm>
            <a:off x="3030967" y="987552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23"/>
          <p:cNvSpPr/>
          <p:nvPr/>
        </p:nvSpPr>
        <p:spPr>
          <a:xfrm>
            <a:off x="3434379" y="987552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23"/>
          <p:cNvSpPr/>
          <p:nvPr/>
        </p:nvSpPr>
        <p:spPr>
          <a:xfrm>
            <a:off x="3837791" y="987552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23"/>
          <p:cNvSpPr/>
          <p:nvPr/>
        </p:nvSpPr>
        <p:spPr>
          <a:xfrm>
            <a:off x="4241202" y="987552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23"/>
          <p:cNvSpPr/>
          <p:nvPr/>
        </p:nvSpPr>
        <p:spPr>
          <a:xfrm>
            <a:off x="4644614" y="987552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23"/>
          <p:cNvSpPr/>
          <p:nvPr/>
        </p:nvSpPr>
        <p:spPr>
          <a:xfrm>
            <a:off x="5048026" y="987552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23"/>
          <p:cNvSpPr/>
          <p:nvPr/>
        </p:nvSpPr>
        <p:spPr>
          <a:xfrm>
            <a:off x="5451438" y="987552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23"/>
          <p:cNvSpPr/>
          <p:nvPr/>
        </p:nvSpPr>
        <p:spPr>
          <a:xfrm>
            <a:off x="5854849" y="987552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23"/>
          <p:cNvSpPr/>
          <p:nvPr/>
        </p:nvSpPr>
        <p:spPr>
          <a:xfrm>
            <a:off x="6258261" y="987552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23"/>
          <p:cNvSpPr/>
          <p:nvPr/>
        </p:nvSpPr>
        <p:spPr>
          <a:xfrm>
            <a:off x="6661673" y="987552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23"/>
          <p:cNvSpPr/>
          <p:nvPr/>
        </p:nvSpPr>
        <p:spPr>
          <a:xfrm>
            <a:off x="7065085" y="987552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23"/>
          <p:cNvSpPr/>
          <p:nvPr/>
        </p:nvSpPr>
        <p:spPr>
          <a:xfrm>
            <a:off x="7468496" y="987552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23"/>
          <p:cNvSpPr/>
          <p:nvPr/>
        </p:nvSpPr>
        <p:spPr>
          <a:xfrm>
            <a:off x="7871908" y="987552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23"/>
          <p:cNvSpPr/>
          <p:nvPr/>
        </p:nvSpPr>
        <p:spPr>
          <a:xfrm>
            <a:off x="1417320" y="1060704"/>
            <a:ext cx="806824" cy="128016"/>
          </a:xfrm>
          <a:prstGeom prst="rect">
            <a:avLst/>
          </a:prstGeom>
          <a:solidFill>
            <a:srgbClr val="A8D8DC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23"/>
          <p:cNvSpPr/>
          <p:nvPr/>
        </p:nvSpPr>
        <p:spPr>
          <a:xfrm>
            <a:off x="1417320" y="1060704"/>
            <a:ext cx="80682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6B79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016B79"/>
                </a:solidFill>
                <a:latin typeface="Calibri"/>
                <a:ea typeface="Calibri"/>
                <a:cs typeface="Calibri"/>
                <a:sym typeface="Calibri"/>
              </a:rPr>
              <a:t>계획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3"/>
          <p:cNvSpPr/>
          <p:nvPr/>
        </p:nvSpPr>
        <p:spPr>
          <a:xfrm>
            <a:off x="1417320" y="1225296"/>
            <a:ext cx="806824" cy="128016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23"/>
          <p:cNvSpPr/>
          <p:nvPr/>
        </p:nvSpPr>
        <p:spPr>
          <a:xfrm>
            <a:off x="1417320" y="1225296"/>
            <a:ext cx="80682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실제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3"/>
          <p:cNvSpPr/>
          <p:nvPr/>
        </p:nvSpPr>
        <p:spPr>
          <a:xfrm>
            <a:off x="8449056" y="1088136"/>
            <a:ext cx="457200" cy="237744"/>
          </a:xfrm>
          <a:prstGeom prst="rect">
            <a:avLst/>
          </a:prstGeom>
          <a:solidFill>
            <a:srgbClr val="ECFDF5"/>
          </a:solidFill>
          <a:ln cap="flat" cmpd="sng" w="101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23"/>
          <p:cNvSpPr/>
          <p:nvPr/>
        </p:nvSpPr>
        <p:spPr>
          <a:xfrm>
            <a:off x="8449056" y="1097280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✅ 정상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3"/>
          <p:cNvSpPr/>
          <p:nvPr/>
        </p:nvSpPr>
        <p:spPr>
          <a:xfrm>
            <a:off x="201168" y="1426464"/>
            <a:ext cx="8732520" cy="411480"/>
          </a:xfrm>
          <a:prstGeom prst="rect">
            <a:avLst/>
          </a:prstGeom>
          <a:solidFill>
            <a:srgbClr val="FFFDF0"/>
          </a:solidFill>
          <a:ln cap="flat" cmpd="sng" w="15225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23"/>
          <p:cNvSpPr/>
          <p:nvPr/>
        </p:nvSpPr>
        <p:spPr>
          <a:xfrm>
            <a:off x="54864" y="1463040"/>
            <a:ext cx="91440" cy="347472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23"/>
          <p:cNvSpPr/>
          <p:nvPr/>
        </p:nvSpPr>
        <p:spPr>
          <a:xfrm>
            <a:off x="54864" y="1536192"/>
            <a:ext cx="91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3"/>
          <p:cNvSpPr/>
          <p:nvPr/>
        </p:nvSpPr>
        <p:spPr>
          <a:xfrm>
            <a:off x="228600" y="1472184"/>
            <a:ext cx="11521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50"/>
              <a:buFont typeface="Arial Black"/>
              <a:buNone/>
            </a:pPr>
            <a:r>
              <a:rPr b="1" i="0" lang="en-US" sz="1050" u="none" cap="none" strike="noStrike">
                <a:solidFill>
                  <a:srgbClr val="F4A261"/>
                </a:solidFill>
                <a:latin typeface="Arial Black"/>
                <a:ea typeface="Arial Black"/>
                <a:cs typeface="Arial Black"/>
                <a:sym typeface="Arial Black"/>
              </a:rPr>
              <a:t>데이터 구축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23"/>
          <p:cNvSpPr/>
          <p:nvPr/>
        </p:nvSpPr>
        <p:spPr>
          <a:xfrm>
            <a:off x="228600" y="1673352"/>
            <a:ext cx="115214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수집·전처리·정교화(재레이블링)·임베딩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3"/>
          <p:cNvSpPr/>
          <p:nvPr/>
        </p:nvSpPr>
        <p:spPr>
          <a:xfrm>
            <a:off x="1417320" y="1426464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23"/>
          <p:cNvSpPr/>
          <p:nvPr/>
        </p:nvSpPr>
        <p:spPr>
          <a:xfrm>
            <a:off x="1820732" y="1426464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23"/>
          <p:cNvSpPr/>
          <p:nvPr/>
        </p:nvSpPr>
        <p:spPr>
          <a:xfrm>
            <a:off x="2224144" y="1426464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23"/>
          <p:cNvSpPr/>
          <p:nvPr/>
        </p:nvSpPr>
        <p:spPr>
          <a:xfrm>
            <a:off x="2627555" y="1426464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23"/>
          <p:cNvSpPr/>
          <p:nvPr/>
        </p:nvSpPr>
        <p:spPr>
          <a:xfrm>
            <a:off x="3030967" y="1426464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23"/>
          <p:cNvSpPr/>
          <p:nvPr/>
        </p:nvSpPr>
        <p:spPr>
          <a:xfrm>
            <a:off x="3434379" y="1426464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23"/>
          <p:cNvSpPr/>
          <p:nvPr/>
        </p:nvSpPr>
        <p:spPr>
          <a:xfrm>
            <a:off x="3837791" y="1426464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23"/>
          <p:cNvSpPr/>
          <p:nvPr/>
        </p:nvSpPr>
        <p:spPr>
          <a:xfrm>
            <a:off x="4241202" y="1426464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23"/>
          <p:cNvSpPr/>
          <p:nvPr/>
        </p:nvSpPr>
        <p:spPr>
          <a:xfrm>
            <a:off x="4644614" y="1426464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23"/>
          <p:cNvSpPr/>
          <p:nvPr/>
        </p:nvSpPr>
        <p:spPr>
          <a:xfrm>
            <a:off x="5048026" y="1426464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23"/>
          <p:cNvSpPr/>
          <p:nvPr/>
        </p:nvSpPr>
        <p:spPr>
          <a:xfrm>
            <a:off x="5451438" y="1426464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23"/>
          <p:cNvSpPr/>
          <p:nvPr/>
        </p:nvSpPr>
        <p:spPr>
          <a:xfrm>
            <a:off x="5854849" y="1426464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23"/>
          <p:cNvSpPr/>
          <p:nvPr/>
        </p:nvSpPr>
        <p:spPr>
          <a:xfrm>
            <a:off x="6258261" y="1426464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23"/>
          <p:cNvSpPr/>
          <p:nvPr/>
        </p:nvSpPr>
        <p:spPr>
          <a:xfrm>
            <a:off x="6661673" y="1426464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23"/>
          <p:cNvSpPr/>
          <p:nvPr/>
        </p:nvSpPr>
        <p:spPr>
          <a:xfrm>
            <a:off x="7065085" y="1426464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23"/>
          <p:cNvSpPr/>
          <p:nvPr/>
        </p:nvSpPr>
        <p:spPr>
          <a:xfrm>
            <a:off x="7468496" y="1426464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23"/>
          <p:cNvSpPr/>
          <p:nvPr/>
        </p:nvSpPr>
        <p:spPr>
          <a:xfrm>
            <a:off x="7871908" y="1426464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23"/>
          <p:cNvSpPr/>
          <p:nvPr/>
        </p:nvSpPr>
        <p:spPr>
          <a:xfrm>
            <a:off x="1417320" y="1499616"/>
            <a:ext cx="4034118" cy="128016"/>
          </a:xfrm>
          <a:prstGeom prst="rect">
            <a:avLst/>
          </a:prstGeom>
          <a:solidFill>
            <a:srgbClr val="A8D8DC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23"/>
          <p:cNvSpPr/>
          <p:nvPr/>
        </p:nvSpPr>
        <p:spPr>
          <a:xfrm>
            <a:off x="1417320" y="1499616"/>
            <a:ext cx="403411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6B79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016B79"/>
                </a:solidFill>
                <a:latin typeface="Calibri"/>
                <a:ea typeface="Calibri"/>
                <a:cs typeface="Calibri"/>
                <a:sym typeface="Calibri"/>
              </a:rPr>
              <a:t>계획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23"/>
          <p:cNvSpPr/>
          <p:nvPr/>
        </p:nvSpPr>
        <p:spPr>
          <a:xfrm>
            <a:off x="1417320" y="1664208"/>
            <a:ext cx="4034118" cy="128016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23"/>
          <p:cNvSpPr/>
          <p:nvPr/>
        </p:nvSpPr>
        <p:spPr>
          <a:xfrm>
            <a:off x="1417320" y="1664208"/>
            <a:ext cx="403411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실제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23"/>
          <p:cNvSpPr/>
          <p:nvPr/>
        </p:nvSpPr>
        <p:spPr>
          <a:xfrm>
            <a:off x="5451438" y="1664208"/>
            <a:ext cx="403412" cy="128016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23"/>
          <p:cNvSpPr/>
          <p:nvPr/>
        </p:nvSpPr>
        <p:spPr>
          <a:xfrm>
            <a:off x="5882281" y="1645920"/>
            <a:ext cx="274320" cy="164592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23"/>
          <p:cNvSpPr/>
          <p:nvPr/>
        </p:nvSpPr>
        <p:spPr>
          <a:xfrm>
            <a:off x="5882281" y="164592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 Black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+1일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23"/>
          <p:cNvSpPr/>
          <p:nvPr/>
        </p:nvSpPr>
        <p:spPr>
          <a:xfrm>
            <a:off x="8449056" y="1527048"/>
            <a:ext cx="457200" cy="237744"/>
          </a:xfrm>
          <a:prstGeom prst="rect">
            <a:avLst/>
          </a:prstGeom>
          <a:solidFill>
            <a:srgbClr val="FFFBEB"/>
          </a:solidFill>
          <a:ln cap="flat" cmpd="sng" w="101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23"/>
          <p:cNvSpPr/>
          <p:nvPr/>
        </p:nvSpPr>
        <p:spPr>
          <a:xfrm>
            <a:off x="8449056" y="153619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⚠ +1일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3"/>
          <p:cNvSpPr/>
          <p:nvPr/>
        </p:nvSpPr>
        <p:spPr>
          <a:xfrm>
            <a:off x="201168" y="1865376"/>
            <a:ext cx="8732520" cy="411480"/>
          </a:xfrm>
          <a:prstGeom prst="rect">
            <a:avLst/>
          </a:prstGeom>
          <a:solidFill>
            <a:srgbClr val="FFFDF0"/>
          </a:solidFill>
          <a:ln cap="flat" cmpd="sng" w="15225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  <a:effectLst>
            <a:outerShdw blurRad="806450025" rotWithShape="0" algn="bl" dist="322580000">
              <a:srgbClr val="000000">
                <a:alpha val="9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23"/>
          <p:cNvSpPr/>
          <p:nvPr/>
        </p:nvSpPr>
        <p:spPr>
          <a:xfrm>
            <a:off x="54864" y="1901952"/>
            <a:ext cx="91440" cy="347472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23"/>
          <p:cNvSpPr/>
          <p:nvPr/>
        </p:nvSpPr>
        <p:spPr>
          <a:xfrm>
            <a:off x="54864" y="1975104"/>
            <a:ext cx="91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23"/>
          <p:cNvSpPr/>
          <p:nvPr/>
        </p:nvSpPr>
        <p:spPr>
          <a:xfrm>
            <a:off x="228600" y="1911096"/>
            <a:ext cx="11521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50"/>
              <a:buFont typeface="Arial Black"/>
              <a:buNone/>
            </a:pPr>
            <a:r>
              <a:rPr b="1" i="0" lang="en-US" sz="1050" u="none" cap="none" strike="noStrike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AI 모델 개발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23"/>
          <p:cNvSpPr/>
          <p:nvPr/>
        </p:nvSpPr>
        <p:spPr>
          <a:xfrm>
            <a:off x="228600" y="2112264"/>
            <a:ext cx="115214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1차 분류 · Cross-Encoder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23"/>
          <p:cNvSpPr/>
          <p:nvPr/>
        </p:nvSpPr>
        <p:spPr>
          <a:xfrm>
            <a:off x="1417320" y="1865376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23"/>
          <p:cNvSpPr/>
          <p:nvPr/>
        </p:nvSpPr>
        <p:spPr>
          <a:xfrm>
            <a:off x="1820732" y="1865376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23"/>
          <p:cNvSpPr/>
          <p:nvPr/>
        </p:nvSpPr>
        <p:spPr>
          <a:xfrm>
            <a:off x="2224144" y="1865376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23"/>
          <p:cNvSpPr/>
          <p:nvPr/>
        </p:nvSpPr>
        <p:spPr>
          <a:xfrm>
            <a:off x="2627555" y="1865376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23"/>
          <p:cNvSpPr/>
          <p:nvPr/>
        </p:nvSpPr>
        <p:spPr>
          <a:xfrm>
            <a:off x="3030967" y="1865376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23"/>
          <p:cNvSpPr/>
          <p:nvPr/>
        </p:nvSpPr>
        <p:spPr>
          <a:xfrm>
            <a:off x="3434379" y="1865376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3"/>
          <p:cNvSpPr/>
          <p:nvPr/>
        </p:nvSpPr>
        <p:spPr>
          <a:xfrm>
            <a:off x="3837791" y="1865376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23"/>
          <p:cNvSpPr/>
          <p:nvPr/>
        </p:nvSpPr>
        <p:spPr>
          <a:xfrm>
            <a:off x="4241202" y="1865376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23"/>
          <p:cNvSpPr/>
          <p:nvPr/>
        </p:nvSpPr>
        <p:spPr>
          <a:xfrm>
            <a:off x="4644614" y="1865376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23"/>
          <p:cNvSpPr/>
          <p:nvPr/>
        </p:nvSpPr>
        <p:spPr>
          <a:xfrm>
            <a:off x="5048026" y="1865376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23"/>
          <p:cNvSpPr/>
          <p:nvPr/>
        </p:nvSpPr>
        <p:spPr>
          <a:xfrm>
            <a:off x="5451438" y="1865376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23"/>
          <p:cNvSpPr/>
          <p:nvPr/>
        </p:nvSpPr>
        <p:spPr>
          <a:xfrm>
            <a:off x="5854849" y="1865376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23"/>
          <p:cNvSpPr/>
          <p:nvPr/>
        </p:nvSpPr>
        <p:spPr>
          <a:xfrm>
            <a:off x="6258261" y="1865376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23"/>
          <p:cNvSpPr/>
          <p:nvPr/>
        </p:nvSpPr>
        <p:spPr>
          <a:xfrm>
            <a:off x="6661673" y="1865376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23"/>
          <p:cNvSpPr/>
          <p:nvPr/>
        </p:nvSpPr>
        <p:spPr>
          <a:xfrm>
            <a:off x="7065085" y="1865376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23"/>
          <p:cNvSpPr/>
          <p:nvPr/>
        </p:nvSpPr>
        <p:spPr>
          <a:xfrm>
            <a:off x="7468496" y="1865376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23"/>
          <p:cNvSpPr/>
          <p:nvPr/>
        </p:nvSpPr>
        <p:spPr>
          <a:xfrm>
            <a:off x="7871908" y="1865376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23"/>
          <p:cNvSpPr/>
          <p:nvPr/>
        </p:nvSpPr>
        <p:spPr>
          <a:xfrm>
            <a:off x="3030983" y="1938523"/>
            <a:ext cx="4840800" cy="201300"/>
          </a:xfrm>
          <a:prstGeom prst="rect">
            <a:avLst/>
          </a:prstGeom>
          <a:solidFill>
            <a:srgbClr val="A8D8DC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23"/>
          <p:cNvSpPr/>
          <p:nvPr/>
        </p:nvSpPr>
        <p:spPr>
          <a:xfrm>
            <a:off x="2980175" y="1938525"/>
            <a:ext cx="48408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6B79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016B79"/>
                </a:solidFill>
                <a:latin typeface="Calibri"/>
                <a:ea typeface="Calibri"/>
                <a:cs typeface="Calibri"/>
                <a:sym typeface="Calibri"/>
              </a:rPr>
              <a:t>계획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3"/>
          <p:cNvSpPr/>
          <p:nvPr/>
        </p:nvSpPr>
        <p:spPr>
          <a:xfrm>
            <a:off x="3030975" y="2085025"/>
            <a:ext cx="4840800" cy="1464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23"/>
          <p:cNvSpPr/>
          <p:nvPr/>
        </p:nvSpPr>
        <p:spPr>
          <a:xfrm>
            <a:off x="3030975" y="2103225"/>
            <a:ext cx="4756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실제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23"/>
          <p:cNvSpPr/>
          <p:nvPr/>
        </p:nvSpPr>
        <p:spPr>
          <a:xfrm>
            <a:off x="7959756" y="1902732"/>
            <a:ext cx="274200" cy="1647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23"/>
          <p:cNvSpPr/>
          <p:nvPr/>
        </p:nvSpPr>
        <p:spPr>
          <a:xfrm>
            <a:off x="7958373" y="1898635"/>
            <a:ext cx="274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 Black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+1일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23"/>
          <p:cNvSpPr/>
          <p:nvPr/>
        </p:nvSpPr>
        <p:spPr>
          <a:xfrm>
            <a:off x="8449056" y="1965960"/>
            <a:ext cx="457200" cy="237744"/>
          </a:xfrm>
          <a:prstGeom prst="rect">
            <a:avLst/>
          </a:prstGeom>
          <a:solidFill>
            <a:srgbClr val="FFF0F0"/>
          </a:solidFill>
          <a:ln cap="flat" cmpd="sng" w="1015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23"/>
          <p:cNvSpPr/>
          <p:nvPr/>
        </p:nvSpPr>
        <p:spPr>
          <a:xfrm>
            <a:off x="8449056" y="1975104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⚠ +1일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3"/>
          <p:cNvSpPr/>
          <p:nvPr/>
        </p:nvSpPr>
        <p:spPr>
          <a:xfrm>
            <a:off x="201168" y="2304288"/>
            <a:ext cx="8732520" cy="411480"/>
          </a:xfrm>
          <a:prstGeom prst="rect">
            <a:avLst/>
          </a:prstGeom>
          <a:solidFill>
            <a:srgbClr val="ECFD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23"/>
          <p:cNvSpPr/>
          <p:nvPr/>
        </p:nvSpPr>
        <p:spPr>
          <a:xfrm>
            <a:off x="228600" y="2350008"/>
            <a:ext cx="11521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50"/>
              <a:buFont typeface="Arial Black"/>
              <a:buNone/>
            </a:pPr>
            <a:r>
              <a:rPr b="1" i="0" lang="en-US" sz="1050" u="none" cap="none" strike="noStrike">
                <a:solidFill>
                  <a:srgbClr val="1B3A6B"/>
                </a:solidFill>
                <a:latin typeface="Arial Black"/>
                <a:ea typeface="Arial Black"/>
                <a:cs typeface="Arial Black"/>
                <a:sym typeface="Arial Black"/>
              </a:rPr>
              <a:t>DB 구축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23"/>
          <p:cNvSpPr/>
          <p:nvPr/>
        </p:nvSpPr>
        <p:spPr>
          <a:xfrm>
            <a:off x="228600" y="2551176"/>
            <a:ext cx="115214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테이블 설계·회원·인덱스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23"/>
          <p:cNvSpPr/>
          <p:nvPr/>
        </p:nvSpPr>
        <p:spPr>
          <a:xfrm>
            <a:off x="1417320" y="2304288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23"/>
          <p:cNvSpPr/>
          <p:nvPr/>
        </p:nvSpPr>
        <p:spPr>
          <a:xfrm>
            <a:off x="1820732" y="2304288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23"/>
          <p:cNvSpPr/>
          <p:nvPr/>
        </p:nvSpPr>
        <p:spPr>
          <a:xfrm>
            <a:off x="2224144" y="2304288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23"/>
          <p:cNvSpPr/>
          <p:nvPr/>
        </p:nvSpPr>
        <p:spPr>
          <a:xfrm>
            <a:off x="2627555" y="2304288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23"/>
          <p:cNvSpPr/>
          <p:nvPr/>
        </p:nvSpPr>
        <p:spPr>
          <a:xfrm>
            <a:off x="3030967" y="2304288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23"/>
          <p:cNvSpPr/>
          <p:nvPr/>
        </p:nvSpPr>
        <p:spPr>
          <a:xfrm>
            <a:off x="3434379" y="2304288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23"/>
          <p:cNvSpPr/>
          <p:nvPr/>
        </p:nvSpPr>
        <p:spPr>
          <a:xfrm>
            <a:off x="3837791" y="2304288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23"/>
          <p:cNvSpPr/>
          <p:nvPr/>
        </p:nvSpPr>
        <p:spPr>
          <a:xfrm>
            <a:off x="4241202" y="2304288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23"/>
          <p:cNvSpPr/>
          <p:nvPr/>
        </p:nvSpPr>
        <p:spPr>
          <a:xfrm>
            <a:off x="4644614" y="2304288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23"/>
          <p:cNvSpPr/>
          <p:nvPr/>
        </p:nvSpPr>
        <p:spPr>
          <a:xfrm>
            <a:off x="5048026" y="2304288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23"/>
          <p:cNvSpPr/>
          <p:nvPr/>
        </p:nvSpPr>
        <p:spPr>
          <a:xfrm>
            <a:off x="5451438" y="2304288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23"/>
          <p:cNvSpPr/>
          <p:nvPr/>
        </p:nvSpPr>
        <p:spPr>
          <a:xfrm>
            <a:off x="5854849" y="2304288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23"/>
          <p:cNvSpPr/>
          <p:nvPr/>
        </p:nvSpPr>
        <p:spPr>
          <a:xfrm>
            <a:off x="6258261" y="2304288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23"/>
          <p:cNvSpPr/>
          <p:nvPr/>
        </p:nvSpPr>
        <p:spPr>
          <a:xfrm>
            <a:off x="6661673" y="2304288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23"/>
          <p:cNvSpPr/>
          <p:nvPr/>
        </p:nvSpPr>
        <p:spPr>
          <a:xfrm>
            <a:off x="7065085" y="2304288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23"/>
          <p:cNvSpPr/>
          <p:nvPr/>
        </p:nvSpPr>
        <p:spPr>
          <a:xfrm>
            <a:off x="7468496" y="2304288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23"/>
          <p:cNvSpPr/>
          <p:nvPr/>
        </p:nvSpPr>
        <p:spPr>
          <a:xfrm>
            <a:off x="7899425" y="2304288"/>
            <a:ext cx="403500" cy="4116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23"/>
          <p:cNvSpPr/>
          <p:nvPr/>
        </p:nvSpPr>
        <p:spPr>
          <a:xfrm>
            <a:off x="2224150" y="2340850"/>
            <a:ext cx="1210200" cy="128100"/>
          </a:xfrm>
          <a:prstGeom prst="rect">
            <a:avLst/>
          </a:prstGeom>
          <a:solidFill>
            <a:srgbClr val="A8D8DC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23"/>
          <p:cNvSpPr/>
          <p:nvPr/>
        </p:nvSpPr>
        <p:spPr>
          <a:xfrm>
            <a:off x="2261625" y="2353875"/>
            <a:ext cx="10911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6B79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016B79"/>
                </a:solidFill>
                <a:latin typeface="Calibri"/>
                <a:ea typeface="Calibri"/>
                <a:cs typeface="Calibri"/>
                <a:sym typeface="Calibri"/>
              </a:rPr>
              <a:t>계획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23"/>
          <p:cNvSpPr/>
          <p:nvPr/>
        </p:nvSpPr>
        <p:spPr>
          <a:xfrm>
            <a:off x="2224150" y="2505459"/>
            <a:ext cx="1210200" cy="1830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23"/>
          <p:cNvSpPr/>
          <p:nvPr/>
        </p:nvSpPr>
        <p:spPr>
          <a:xfrm>
            <a:off x="2224147" y="2500966"/>
            <a:ext cx="1152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실제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23"/>
          <p:cNvSpPr/>
          <p:nvPr/>
        </p:nvSpPr>
        <p:spPr>
          <a:xfrm>
            <a:off x="8449056" y="2404872"/>
            <a:ext cx="457200" cy="237744"/>
          </a:xfrm>
          <a:prstGeom prst="rect">
            <a:avLst/>
          </a:prstGeom>
          <a:solidFill>
            <a:srgbClr val="ECFDF5"/>
          </a:solidFill>
          <a:ln cap="flat" cmpd="sng" w="101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23"/>
          <p:cNvSpPr/>
          <p:nvPr/>
        </p:nvSpPr>
        <p:spPr>
          <a:xfrm>
            <a:off x="8449056" y="2414016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✅ 정상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3"/>
          <p:cNvSpPr/>
          <p:nvPr/>
        </p:nvSpPr>
        <p:spPr>
          <a:xfrm>
            <a:off x="201168" y="2743200"/>
            <a:ext cx="8732520" cy="411480"/>
          </a:xfrm>
          <a:prstGeom prst="rect">
            <a:avLst/>
          </a:prstGeom>
          <a:solidFill>
            <a:srgbClr val="ECFD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23"/>
          <p:cNvSpPr/>
          <p:nvPr/>
        </p:nvSpPr>
        <p:spPr>
          <a:xfrm>
            <a:off x="228600" y="2788920"/>
            <a:ext cx="11521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50"/>
              <a:buFont typeface="Arial Black"/>
              <a:buNone/>
            </a:pPr>
            <a:r>
              <a:rPr b="1" i="0" lang="en-US" sz="1050" u="none" cap="none" strike="noStrike">
                <a:solidFill>
                  <a:srgbClr val="1B3A6B"/>
                </a:solidFill>
                <a:latin typeface="Arial Black"/>
                <a:ea typeface="Arial Black"/>
                <a:cs typeface="Arial Black"/>
                <a:sym typeface="Arial Black"/>
              </a:rPr>
              <a:t>백엔드 개발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23"/>
          <p:cNvSpPr/>
          <p:nvPr/>
        </p:nvSpPr>
        <p:spPr>
          <a:xfrm>
            <a:off x="228600" y="2990088"/>
            <a:ext cx="115214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PDF파싱·벡터검색·OAuth·JWT·API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3"/>
          <p:cNvSpPr/>
          <p:nvPr/>
        </p:nvSpPr>
        <p:spPr>
          <a:xfrm>
            <a:off x="1417320" y="2743200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23"/>
          <p:cNvSpPr/>
          <p:nvPr/>
        </p:nvSpPr>
        <p:spPr>
          <a:xfrm>
            <a:off x="1820732" y="2743200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23"/>
          <p:cNvSpPr/>
          <p:nvPr/>
        </p:nvSpPr>
        <p:spPr>
          <a:xfrm>
            <a:off x="2224144" y="2743200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23"/>
          <p:cNvSpPr/>
          <p:nvPr/>
        </p:nvSpPr>
        <p:spPr>
          <a:xfrm>
            <a:off x="2627555" y="2743200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23"/>
          <p:cNvSpPr/>
          <p:nvPr/>
        </p:nvSpPr>
        <p:spPr>
          <a:xfrm>
            <a:off x="3030967" y="2743200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23"/>
          <p:cNvSpPr/>
          <p:nvPr/>
        </p:nvSpPr>
        <p:spPr>
          <a:xfrm>
            <a:off x="3434379" y="2743200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23"/>
          <p:cNvSpPr/>
          <p:nvPr/>
        </p:nvSpPr>
        <p:spPr>
          <a:xfrm>
            <a:off x="3837791" y="2743200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23"/>
          <p:cNvSpPr/>
          <p:nvPr/>
        </p:nvSpPr>
        <p:spPr>
          <a:xfrm>
            <a:off x="4241202" y="2743200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23"/>
          <p:cNvSpPr/>
          <p:nvPr/>
        </p:nvSpPr>
        <p:spPr>
          <a:xfrm>
            <a:off x="4644614" y="2743200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23"/>
          <p:cNvSpPr/>
          <p:nvPr/>
        </p:nvSpPr>
        <p:spPr>
          <a:xfrm>
            <a:off x="5048026" y="2743200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23"/>
          <p:cNvSpPr/>
          <p:nvPr/>
        </p:nvSpPr>
        <p:spPr>
          <a:xfrm>
            <a:off x="5451438" y="2743200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23"/>
          <p:cNvSpPr/>
          <p:nvPr/>
        </p:nvSpPr>
        <p:spPr>
          <a:xfrm>
            <a:off x="5854849" y="2743200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23"/>
          <p:cNvSpPr/>
          <p:nvPr/>
        </p:nvSpPr>
        <p:spPr>
          <a:xfrm>
            <a:off x="6258261" y="2743200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23"/>
          <p:cNvSpPr/>
          <p:nvPr/>
        </p:nvSpPr>
        <p:spPr>
          <a:xfrm>
            <a:off x="6661673" y="2743200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23"/>
          <p:cNvSpPr/>
          <p:nvPr/>
        </p:nvSpPr>
        <p:spPr>
          <a:xfrm>
            <a:off x="7065085" y="2743200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23"/>
          <p:cNvSpPr/>
          <p:nvPr/>
        </p:nvSpPr>
        <p:spPr>
          <a:xfrm>
            <a:off x="7468496" y="2743200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23"/>
          <p:cNvSpPr/>
          <p:nvPr/>
        </p:nvSpPr>
        <p:spPr>
          <a:xfrm>
            <a:off x="7871908" y="2743200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23"/>
          <p:cNvSpPr/>
          <p:nvPr/>
        </p:nvSpPr>
        <p:spPr>
          <a:xfrm>
            <a:off x="3030950" y="2816350"/>
            <a:ext cx="2823900" cy="128100"/>
          </a:xfrm>
          <a:prstGeom prst="rect">
            <a:avLst/>
          </a:prstGeom>
          <a:solidFill>
            <a:srgbClr val="A8D8DC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23"/>
          <p:cNvSpPr/>
          <p:nvPr/>
        </p:nvSpPr>
        <p:spPr>
          <a:xfrm>
            <a:off x="3030975" y="2816275"/>
            <a:ext cx="28239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6B79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016B79"/>
                </a:solidFill>
                <a:latin typeface="Calibri"/>
                <a:ea typeface="Calibri"/>
                <a:cs typeface="Calibri"/>
                <a:sym typeface="Calibri"/>
              </a:rPr>
              <a:t>계획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23"/>
          <p:cNvSpPr/>
          <p:nvPr/>
        </p:nvSpPr>
        <p:spPr>
          <a:xfrm>
            <a:off x="3030950" y="2980950"/>
            <a:ext cx="2823900" cy="1281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23"/>
          <p:cNvSpPr/>
          <p:nvPr/>
        </p:nvSpPr>
        <p:spPr>
          <a:xfrm>
            <a:off x="3030950" y="2974601"/>
            <a:ext cx="28239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실제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23"/>
          <p:cNvSpPr/>
          <p:nvPr/>
        </p:nvSpPr>
        <p:spPr>
          <a:xfrm>
            <a:off x="8449056" y="2843784"/>
            <a:ext cx="457200" cy="237744"/>
          </a:xfrm>
          <a:prstGeom prst="rect">
            <a:avLst/>
          </a:prstGeom>
          <a:solidFill>
            <a:srgbClr val="ECFDF5"/>
          </a:solidFill>
          <a:ln cap="flat" cmpd="sng" w="101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23"/>
          <p:cNvSpPr/>
          <p:nvPr/>
        </p:nvSpPr>
        <p:spPr>
          <a:xfrm>
            <a:off x="8449056" y="2852928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✅ 정상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23"/>
          <p:cNvSpPr/>
          <p:nvPr/>
        </p:nvSpPr>
        <p:spPr>
          <a:xfrm>
            <a:off x="201168" y="3182112"/>
            <a:ext cx="8732520" cy="411480"/>
          </a:xfrm>
          <a:prstGeom prst="rect">
            <a:avLst/>
          </a:prstGeom>
          <a:solidFill>
            <a:srgbClr val="ECFD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23"/>
          <p:cNvSpPr/>
          <p:nvPr/>
        </p:nvSpPr>
        <p:spPr>
          <a:xfrm>
            <a:off x="228600" y="3227832"/>
            <a:ext cx="11521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50"/>
              <a:buFont typeface="Arial Black"/>
              <a:buNone/>
            </a:pPr>
            <a:r>
              <a:rPr b="1" i="0" lang="en-US" sz="1050" u="none" cap="none" strike="noStrike">
                <a:solidFill>
                  <a:srgbClr val="1B3A6B"/>
                </a:solidFill>
                <a:latin typeface="Arial Black"/>
                <a:ea typeface="Arial Black"/>
                <a:cs typeface="Arial Black"/>
                <a:sym typeface="Arial Black"/>
              </a:rPr>
              <a:t>프론트엔드 개발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23"/>
          <p:cNvSpPr/>
          <p:nvPr/>
        </p:nvSpPr>
        <p:spPr>
          <a:xfrm>
            <a:off x="228600" y="3429000"/>
            <a:ext cx="115214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업로드·결과·로그인·다크모드·알림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23"/>
          <p:cNvSpPr/>
          <p:nvPr/>
        </p:nvSpPr>
        <p:spPr>
          <a:xfrm>
            <a:off x="1417320" y="3182112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23"/>
          <p:cNvSpPr/>
          <p:nvPr/>
        </p:nvSpPr>
        <p:spPr>
          <a:xfrm>
            <a:off x="1820732" y="3182112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23"/>
          <p:cNvSpPr/>
          <p:nvPr/>
        </p:nvSpPr>
        <p:spPr>
          <a:xfrm>
            <a:off x="2224144" y="3182112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23"/>
          <p:cNvSpPr/>
          <p:nvPr/>
        </p:nvSpPr>
        <p:spPr>
          <a:xfrm>
            <a:off x="2627555" y="3182112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23"/>
          <p:cNvSpPr/>
          <p:nvPr/>
        </p:nvSpPr>
        <p:spPr>
          <a:xfrm>
            <a:off x="3030967" y="3182112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23"/>
          <p:cNvSpPr/>
          <p:nvPr/>
        </p:nvSpPr>
        <p:spPr>
          <a:xfrm>
            <a:off x="3434379" y="3182112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23"/>
          <p:cNvSpPr/>
          <p:nvPr/>
        </p:nvSpPr>
        <p:spPr>
          <a:xfrm>
            <a:off x="3837791" y="3182112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23"/>
          <p:cNvSpPr/>
          <p:nvPr/>
        </p:nvSpPr>
        <p:spPr>
          <a:xfrm>
            <a:off x="4241202" y="3182112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23"/>
          <p:cNvSpPr/>
          <p:nvPr/>
        </p:nvSpPr>
        <p:spPr>
          <a:xfrm>
            <a:off x="4644614" y="3182112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23"/>
          <p:cNvSpPr/>
          <p:nvPr/>
        </p:nvSpPr>
        <p:spPr>
          <a:xfrm>
            <a:off x="5048026" y="3182112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23"/>
          <p:cNvSpPr/>
          <p:nvPr/>
        </p:nvSpPr>
        <p:spPr>
          <a:xfrm>
            <a:off x="5451438" y="3182112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23"/>
          <p:cNvSpPr/>
          <p:nvPr/>
        </p:nvSpPr>
        <p:spPr>
          <a:xfrm>
            <a:off x="5854849" y="3182112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23"/>
          <p:cNvSpPr/>
          <p:nvPr/>
        </p:nvSpPr>
        <p:spPr>
          <a:xfrm>
            <a:off x="6258261" y="3182112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3"/>
          <p:cNvSpPr/>
          <p:nvPr/>
        </p:nvSpPr>
        <p:spPr>
          <a:xfrm>
            <a:off x="6661673" y="3182112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3"/>
          <p:cNvSpPr/>
          <p:nvPr/>
        </p:nvSpPr>
        <p:spPr>
          <a:xfrm>
            <a:off x="7065085" y="3182112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23"/>
          <p:cNvSpPr/>
          <p:nvPr/>
        </p:nvSpPr>
        <p:spPr>
          <a:xfrm>
            <a:off x="7468496" y="3182112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3"/>
          <p:cNvSpPr/>
          <p:nvPr/>
        </p:nvSpPr>
        <p:spPr>
          <a:xfrm>
            <a:off x="7871908" y="3182112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23"/>
          <p:cNvSpPr/>
          <p:nvPr/>
        </p:nvSpPr>
        <p:spPr>
          <a:xfrm>
            <a:off x="2262625" y="3255375"/>
            <a:ext cx="2785500" cy="128100"/>
          </a:xfrm>
          <a:prstGeom prst="rect">
            <a:avLst/>
          </a:prstGeom>
          <a:solidFill>
            <a:srgbClr val="A8D8DC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23"/>
          <p:cNvSpPr/>
          <p:nvPr/>
        </p:nvSpPr>
        <p:spPr>
          <a:xfrm>
            <a:off x="2262475" y="3220175"/>
            <a:ext cx="2823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6B79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016B79"/>
                </a:solidFill>
                <a:latin typeface="Calibri"/>
                <a:ea typeface="Calibri"/>
                <a:cs typeface="Calibri"/>
                <a:sym typeface="Calibri"/>
              </a:rPr>
              <a:t>계획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3"/>
          <p:cNvSpPr/>
          <p:nvPr/>
        </p:nvSpPr>
        <p:spPr>
          <a:xfrm>
            <a:off x="2262675" y="3419850"/>
            <a:ext cx="2785500" cy="1464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23"/>
          <p:cNvSpPr/>
          <p:nvPr/>
        </p:nvSpPr>
        <p:spPr>
          <a:xfrm>
            <a:off x="2116625" y="3385700"/>
            <a:ext cx="312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실제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3"/>
          <p:cNvSpPr/>
          <p:nvPr/>
        </p:nvSpPr>
        <p:spPr>
          <a:xfrm>
            <a:off x="8449056" y="3282696"/>
            <a:ext cx="457200" cy="237744"/>
          </a:xfrm>
          <a:prstGeom prst="rect">
            <a:avLst/>
          </a:prstGeom>
          <a:solidFill>
            <a:srgbClr val="ECFDF5"/>
          </a:solidFill>
          <a:ln cap="flat" cmpd="sng" w="101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23"/>
          <p:cNvSpPr/>
          <p:nvPr/>
        </p:nvSpPr>
        <p:spPr>
          <a:xfrm>
            <a:off x="8449056" y="3291840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✅ 정상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23"/>
          <p:cNvSpPr/>
          <p:nvPr/>
        </p:nvSpPr>
        <p:spPr>
          <a:xfrm>
            <a:off x="201168" y="3621024"/>
            <a:ext cx="8732520" cy="411480"/>
          </a:xfrm>
          <a:prstGeom prst="rect">
            <a:avLst/>
          </a:prstGeom>
          <a:solidFill>
            <a:srgbClr val="ECFD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23"/>
          <p:cNvSpPr/>
          <p:nvPr/>
        </p:nvSpPr>
        <p:spPr>
          <a:xfrm>
            <a:off x="228600" y="3666744"/>
            <a:ext cx="11521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50"/>
              <a:buFont typeface="Arial Black"/>
              <a:buNone/>
            </a:pPr>
            <a:r>
              <a:rPr b="1" i="0" lang="en-US" sz="1050" u="none" cap="none" strike="noStrike">
                <a:solidFill>
                  <a:srgbClr val="1B3A6B"/>
                </a:solidFill>
                <a:latin typeface="Arial Black"/>
                <a:ea typeface="Arial Black"/>
                <a:cs typeface="Arial Black"/>
                <a:sym typeface="Arial Black"/>
              </a:rPr>
              <a:t>통합 테스트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23"/>
          <p:cNvSpPr/>
          <p:nvPr/>
        </p:nvSpPr>
        <p:spPr>
          <a:xfrm>
            <a:off x="228600" y="3867912"/>
            <a:ext cx="115214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E2E·성능검증·버그수정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23"/>
          <p:cNvSpPr/>
          <p:nvPr/>
        </p:nvSpPr>
        <p:spPr>
          <a:xfrm>
            <a:off x="1417320" y="3621024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23"/>
          <p:cNvSpPr/>
          <p:nvPr/>
        </p:nvSpPr>
        <p:spPr>
          <a:xfrm>
            <a:off x="1820732" y="3621024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23"/>
          <p:cNvSpPr/>
          <p:nvPr/>
        </p:nvSpPr>
        <p:spPr>
          <a:xfrm>
            <a:off x="2224144" y="3621024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23"/>
          <p:cNvSpPr/>
          <p:nvPr/>
        </p:nvSpPr>
        <p:spPr>
          <a:xfrm>
            <a:off x="2627555" y="3621024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23"/>
          <p:cNvSpPr/>
          <p:nvPr/>
        </p:nvSpPr>
        <p:spPr>
          <a:xfrm>
            <a:off x="3030967" y="3621024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23"/>
          <p:cNvSpPr/>
          <p:nvPr/>
        </p:nvSpPr>
        <p:spPr>
          <a:xfrm>
            <a:off x="3434379" y="3621024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23"/>
          <p:cNvSpPr/>
          <p:nvPr/>
        </p:nvSpPr>
        <p:spPr>
          <a:xfrm>
            <a:off x="3837791" y="3621024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23"/>
          <p:cNvSpPr/>
          <p:nvPr/>
        </p:nvSpPr>
        <p:spPr>
          <a:xfrm>
            <a:off x="4241202" y="3621024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23"/>
          <p:cNvSpPr/>
          <p:nvPr/>
        </p:nvSpPr>
        <p:spPr>
          <a:xfrm>
            <a:off x="4644614" y="3621024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23"/>
          <p:cNvSpPr/>
          <p:nvPr/>
        </p:nvSpPr>
        <p:spPr>
          <a:xfrm>
            <a:off x="5048026" y="3621024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23"/>
          <p:cNvSpPr/>
          <p:nvPr/>
        </p:nvSpPr>
        <p:spPr>
          <a:xfrm>
            <a:off x="5451438" y="3621024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23"/>
          <p:cNvSpPr/>
          <p:nvPr/>
        </p:nvSpPr>
        <p:spPr>
          <a:xfrm>
            <a:off x="5854849" y="3621024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23"/>
          <p:cNvSpPr/>
          <p:nvPr/>
        </p:nvSpPr>
        <p:spPr>
          <a:xfrm>
            <a:off x="6258261" y="3621024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23"/>
          <p:cNvSpPr/>
          <p:nvPr/>
        </p:nvSpPr>
        <p:spPr>
          <a:xfrm>
            <a:off x="6661673" y="3621024"/>
            <a:ext cx="403412" cy="4114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23"/>
          <p:cNvSpPr/>
          <p:nvPr/>
        </p:nvSpPr>
        <p:spPr>
          <a:xfrm>
            <a:off x="7065085" y="3621024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23"/>
          <p:cNvSpPr/>
          <p:nvPr/>
        </p:nvSpPr>
        <p:spPr>
          <a:xfrm>
            <a:off x="7468496" y="3621024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23"/>
          <p:cNvSpPr/>
          <p:nvPr/>
        </p:nvSpPr>
        <p:spPr>
          <a:xfrm>
            <a:off x="7871908" y="3621024"/>
            <a:ext cx="403412" cy="411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23"/>
          <p:cNvSpPr/>
          <p:nvPr/>
        </p:nvSpPr>
        <p:spPr>
          <a:xfrm>
            <a:off x="6258261" y="3694176"/>
            <a:ext cx="2017059" cy="128016"/>
          </a:xfrm>
          <a:prstGeom prst="rect">
            <a:avLst/>
          </a:prstGeom>
          <a:solidFill>
            <a:srgbClr val="A8D8DC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23"/>
          <p:cNvSpPr/>
          <p:nvPr/>
        </p:nvSpPr>
        <p:spPr>
          <a:xfrm>
            <a:off x="6258261" y="3694176"/>
            <a:ext cx="2017059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6B79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016B79"/>
                </a:solidFill>
                <a:latin typeface="Calibri"/>
                <a:ea typeface="Calibri"/>
                <a:cs typeface="Calibri"/>
                <a:sym typeface="Calibri"/>
              </a:rPr>
              <a:t>계획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23"/>
          <p:cNvSpPr/>
          <p:nvPr/>
        </p:nvSpPr>
        <p:spPr>
          <a:xfrm>
            <a:off x="6258261" y="3858768"/>
            <a:ext cx="2017059" cy="128016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23"/>
          <p:cNvSpPr/>
          <p:nvPr/>
        </p:nvSpPr>
        <p:spPr>
          <a:xfrm>
            <a:off x="6258261" y="3858768"/>
            <a:ext cx="2017059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실제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23"/>
          <p:cNvSpPr/>
          <p:nvPr/>
        </p:nvSpPr>
        <p:spPr>
          <a:xfrm>
            <a:off x="8449056" y="3721608"/>
            <a:ext cx="457200" cy="237744"/>
          </a:xfrm>
          <a:prstGeom prst="rect">
            <a:avLst/>
          </a:prstGeom>
          <a:solidFill>
            <a:srgbClr val="ECFDF5"/>
          </a:solidFill>
          <a:ln cap="flat" cmpd="sng" w="101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23"/>
          <p:cNvSpPr/>
          <p:nvPr/>
        </p:nvSpPr>
        <p:spPr>
          <a:xfrm>
            <a:off x="8449056" y="373075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✅ 정상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23"/>
          <p:cNvSpPr/>
          <p:nvPr/>
        </p:nvSpPr>
        <p:spPr>
          <a:xfrm>
            <a:off x="201168" y="4114800"/>
            <a:ext cx="4160520" cy="640080"/>
          </a:xfrm>
          <a:prstGeom prst="rect">
            <a:avLst/>
          </a:prstGeom>
          <a:solidFill>
            <a:srgbClr val="FFFBEB"/>
          </a:solidFill>
          <a:ln cap="flat" cmpd="sng" w="15225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23"/>
          <p:cNvSpPr/>
          <p:nvPr/>
        </p:nvSpPr>
        <p:spPr>
          <a:xfrm>
            <a:off x="292608" y="4169664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50"/>
              <a:buFont typeface="Arial Black"/>
              <a:buNone/>
            </a:pPr>
            <a:r>
              <a:rPr b="1" i="0" lang="en-US" sz="1050" u="none" cap="none" strike="noStrike">
                <a:solidFill>
                  <a:srgbClr val="B45309"/>
                </a:solidFill>
                <a:latin typeface="Arial Black"/>
                <a:ea typeface="Arial Black"/>
                <a:cs typeface="Arial Black"/>
                <a:sym typeface="Arial Black"/>
              </a:rPr>
              <a:t>⚠  지연 ①  학습 데이터 정교화  +1일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23"/>
          <p:cNvSpPr/>
          <p:nvPr/>
        </p:nvSpPr>
        <p:spPr>
          <a:xfrm>
            <a:off x="329196" y="4517133"/>
            <a:ext cx="3931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4181F"/>
                </a:solidFill>
              </a:rPr>
              <a:t>오탐율 개선을 위한 다분야 학습 데이터 반복 재보강</a:t>
            </a:r>
            <a:endParaRPr sz="1100">
              <a:solidFill>
                <a:srgbClr val="14181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23"/>
          <p:cNvSpPr/>
          <p:nvPr/>
        </p:nvSpPr>
        <p:spPr>
          <a:xfrm>
            <a:off x="4754880" y="4114800"/>
            <a:ext cx="4178808" cy="640080"/>
          </a:xfrm>
          <a:prstGeom prst="rect">
            <a:avLst/>
          </a:prstGeom>
          <a:solidFill>
            <a:srgbClr val="FFF0F0"/>
          </a:solidFill>
          <a:ln cap="flat" cmpd="sng" w="15225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23"/>
          <p:cNvSpPr/>
          <p:nvPr/>
        </p:nvSpPr>
        <p:spPr>
          <a:xfrm>
            <a:off x="4846320" y="4169664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50"/>
              <a:buFont typeface="Arial Black"/>
              <a:buNone/>
            </a:pPr>
            <a:r>
              <a:rPr b="1" i="0" lang="en-US" sz="1050" u="none" cap="none" strike="noStrike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⚠  지연 ②  AI 모델 개발  +1일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23"/>
          <p:cNvSpPr/>
          <p:nvPr/>
        </p:nvSpPr>
        <p:spPr>
          <a:xfrm>
            <a:off x="4864608" y="4389120"/>
            <a:ext cx="3931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▸  학습→검증→데이터 보강→재학습 이터레이션 반복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23"/>
          <p:cNvSpPr/>
          <p:nvPr/>
        </p:nvSpPr>
        <p:spPr>
          <a:xfrm>
            <a:off x="4864608" y="4544568"/>
            <a:ext cx="3931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▸  합성 데이터 과적합 발견 → val_final 격리 강화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23"/>
          <p:cNvSpPr/>
          <p:nvPr/>
        </p:nvSpPr>
        <p:spPr>
          <a:xfrm>
            <a:off x="201168" y="4800600"/>
            <a:ext cx="8732520" cy="2743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23"/>
          <p:cNvSpPr/>
          <p:nvPr/>
        </p:nvSpPr>
        <p:spPr>
          <a:xfrm>
            <a:off x="347472" y="4828032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💡  결과: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지연된 2개 단계 모두 최종 완료 확인. </a:t>
            </a:r>
            <a:r>
              <a:rPr b="0" i="0" lang="en-US" sz="100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다음 프로젝트에서는 데이터 정교화·모델 학습 기간에 각 1일 이상 버퍼를 추가할 예정.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23"/>
          <p:cNvSpPr/>
          <p:nvPr/>
        </p:nvSpPr>
        <p:spPr>
          <a:xfrm>
            <a:off x="7887725" y="2085425"/>
            <a:ext cx="403500" cy="1647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B"/>
        </a:solidFill>
      </p:bgPr>
    </p:bg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2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24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팀원 소개  &amp;  역할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24"/>
          <p:cNvSpPr/>
          <p:nvPr/>
        </p:nvSpPr>
        <p:spPr>
          <a:xfrm>
            <a:off x="365760" y="1143000"/>
            <a:ext cx="1572768" cy="32461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24"/>
          <p:cNvSpPr/>
          <p:nvPr/>
        </p:nvSpPr>
        <p:spPr>
          <a:xfrm>
            <a:off x="365760" y="1143000"/>
            <a:ext cx="1572768" cy="11887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24"/>
          <p:cNvSpPr/>
          <p:nvPr/>
        </p:nvSpPr>
        <p:spPr>
          <a:xfrm>
            <a:off x="832104" y="1298448"/>
            <a:ext cx="640080" cy="640080"/>
          </a:xfrm>
          <a:prstGeom prst="ellipse">
            <a:avLst/>
          </a:prstGeom>
          <a:solidFill>
            <a:srgbClr val="1B3A6B">
              <a:alpha val="20000"/>
            </a:srgbClr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24"/>
          <p:cNvSpPr/>
          <p:nvPr/>
        </p:nvSpPr>
        <p:spPr>
          <a:xfrm>
            <a:off x="832104" y="1307592"/>
            <a:ext cx="640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24"/>
          <p:cNvSpPr/>
          <p:nvPr/>
        </p:nvSpPr>
        <p:spPr>
          <a:xfrm>
            <a:off x="411480" y="1993392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이민혁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24"/>
          <p:cNvSpPr/>
          <p:nvPr/>
        </p:nvSpPr>
        <p:spPr>
          <a:xfrm>
            <a:off x="475488" y="2368296"/>
            <a:ext cx="1353312" cy="274320"/>
          </a:xfrm>
          <a:prstGeom prst="rect">
            <a:avLst/>
          </a:prstGeom>
          <a:solidFill>
            <a:srgbClr val="1B3A6B">
              <a:alpha val="18039"/>
            </a:srgbClr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24"/>
          <p:cNvSpPr/>
          <p:nvPr/>
        </p:nvSpPr>
        <p:spPr>
          <a:xfrm>
            <a:off x="475488" y="2386584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팀장 / PM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24"/>
          <p:cNvSpPr/>
          <p:nvPr/>
        </p:nvSpPr>
        <p:spPr>
          <a:xfrm>
            <a:off x="438912" y="2724912"/>
            <a:ext cx="14264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✔  FastAPI 서버 설계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24"/>
          <p:cNvSpPr/>
          <p:nvPr/>
        </p:nvSpPr>
        <p:spPr>
          <a:xfrm>
            <a:off x="438912" y="3127248"/>
            <a:ext cx="14264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✔  DB 모델링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24"/>
          <p:cNvSpPr/>
          <p:nvPr/>
        </p:nvSpPr>
        <p:spPr>
          <a:xfrm>
            <a:off x="2075688" y="1143000"/>
            <a:ext cx="1572768" cy="32461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24"/>
          <p:cNvSpPr/>
          <p:nvPr/>
        </p:nvSpPr>
        <p:spPr>
          <a:xfrm>
            <a:off x="2075688" y="1143000"/>
            <a:ext cx="1572768" cy="1188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24"/>
          <p:cNvSpPr/>
          <p:nvPr/>
        </p:nvSpPr>
        <p:spPr>
          <a:xfrm>
            <a:off x="2542032" y="1298448"/>
            <a:ext cx="640080" cy="640080"/>
          </a:xfrm>
          <a:prstGeom prst="ellipse">
            <a:avLst/>
          </a:prstGeom>
          <a:solidFill>
            <a:srgbClr val="028090">
              <a:alpha val="20000"/>
            </a:srgbClr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24"/>
          <p:cNvSpPr/>
          <p:nvPr/>
        </p:nvSpPr>
        <p:spPr>
          <a:xfrm>
            <a:off x="2542032" y="1307592"/>
            <a:ext cx="640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24"/>
          <p:cNvSpPr/>
          <p:nvPr/>
        </p:nvSpPr>
        <p:spPr>
          <a:xfrm>
            <a:off x="2121408" y="1993392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고관홍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24"/>
          <p:cNvSpPr/>
          <p:nvPr/>
        </p:nvSpPr>
        <p:spPr>
          <a:xfrm>
            <a:off x="2185416" y="2368296"/>
            <a:ext cx="1353312" cy="274320"/>
          </a:xfrm>
          <a:prstGeom prst="rect">
            <a:avLst/>
          </a:prstGeom>
          <a:solidFill>
            <a:srgbClr val="028090">
              <a:alpha val="18039"/>
            </a:srgbClr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24"/>
          <p:cNvSpPr/>
          <p:nvPr/>
        </p:nvSpPr>
        <p:spPr>
          <a:xfrm>
            <a:off x="2185416" y="2386584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AI / ML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24"/>
          <p:cNvSpPr/>
          <p:nvPr/>
        </p:nvSpPr>
        <p:spPr>
          <a:xfrm>
            <a:off x="2148840" y="2724912"/>
            <a:ext cx="14264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✔  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모델 학습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24"/>
          <p:cNvSpPr/>
          <p:nvPr/>
        </p:nvSpPr>
        <p:spPr>
          <a:xfrm>
            <a:off x="3785616" y="1143000"/>
            <a:ext cx="1572768" cy="32461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24"/>
          <p:cNvSpPr/>
          <p:nvPr/>
        </p:nvSpPr>
        <p:spPr>
          <a:xfrm>
            <a:off x="3785616" y="1143000"/>
            <a:ext cx="1572768" cy="118872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24"/>
          <p:cNvSpPr/>
          <p:nvPr/>
        </p:nvSpPr>
        <p:spPr>
          <a:xfrm>
            <a:off x="4251960" y="1298448"/>
            <a:ext cx="640080" cy="640080"/>
          </a:xfrm>
          <a:prstGeom prst="ellipse">
            <a:avLst/>
          </a:prstGeom>
          <a:solidFill>
            <a:srgbClr val="F4A261">
              <a:alpha val="20000"/>
            </a:srgbClr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24"/>
          <p:cNvSpPr/>
          <p:nvPr/>
        </p:nvSpPr>
        <p:spPr>
          <a:xfrm>
            <a:off x="4251960" y="1307592"/>
            <a:ext cx="640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24"/>
          <p:cNvSpPr/>
          <p:nvPr/>
        </p:nvSpPr>
        <p:spPr>
          <a:xfrm>
            <a:off x="3831336" y="1993392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김병길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24"/>
          <p:cNvSpPr/>
          <p:nvPr/>
        </p:nvSpPr>
        <p:spPr>
          <a:xfrm>
            <a:off x="3895344" y="2368296"/>
            <a:ext cx="1353312" cy="274320"/>
          </a:xfrm>
          <a:prstGeom prst="rect">
            <a:avLst/>
          </a:prstGeom>
          <a:solidFill>
            <a:srgbClr val="F4A261">
              <a:alpha val="18039"/>
            </a:srgbClr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24"/>
          <p:cNvSpPr/>
          <p:nvPr/>
        </p:nvSpPr>
        <p:spPr>
          <a:xfrm>
            <a:off x="3895344" y="2386584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기획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24"/>
          <p:cNvSpPr/>
          <p:nvPr/>
        </p:nvSpPr>
        <p:spPr>
          <a:xfrm>
            <a:off x="3858768" y="2724912"/>
            <a:ext cx="14264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✔  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서비스 기획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24"/>
          <p:cNvSpPr/>
          <p:nvPr/>
        </p:nvSpPr>
        <p:spPr>
          <a:xfrm>
            <a:off x="5495544" y="1143000"/>
            <a:ext cx="1572768" cy="32461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24"/>
          <p:cNvSpPr/>
          <p:nvPr/>
        </p:nvSpPr>
        <p:spPr>
          <a:xfrm>
            <a:off x="5495544" y="1143000"/>
            <a:ext cx="1572768" cy="118872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24"/>
          <p:cNvSpPr/>
          <p:nvPr/>
        </p:nvSpPr>
        <p:spPr>
          <a:xfrm>
            <a:off x="5961888" y="1298448"/>
            <a:ext cx="640080" cy="640080"/>
          </a:xfrm>
          <a:prstGeom prst="ellipse">
            <a:avLst/>
          </a:prstGeom>
          <a:solidFill>
            <a:srgbClr val="E63946">
              <a:alpha val="20000"/>
            </a:srgbClr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24"/>
          <p:cNvSpPr/>
          <p:nvPr/>
        </p:nvSpPr>
        <p:spPr>
          <a:xfrm>
            <a:off x="5961888" y="1307592"/>
            <a:ext cx="640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24"/>
          <p:cNvSpPr/>
          <p:nvPr/>
        </p:nvSpPr>
        <p:spPr>
          <a:xfrm>
            <a:off x="5541264" y="1993392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남태우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24"/>
          <p:cNvSpPr/>
          <p:nvPr/>
        </p:nvSpPr>
        <p:spPr>
          <a:xfrm>
            <a:off x="5605272" y="2368296"/>
            <a:ext cx="1353312" cy="274320"/>
          </a:xfrm>
          <a:prstGeom prst="rect">
            <a:avLst/>
          </a:prstGeom>
          <a:solidFill>
            <a:srgbClr val="E63946">
              <a:alpha val="18039"/>
            </a:srgbClr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24"/>
          <p:cNvSpPr/>
          <p:nvPr/>
        </p:nvSpPr>
        <p:spPr>
          <a:xfrm>
            <a:off x="5605272" y="2386584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Frontend/ 발표</a:t>
            </a: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24"/>
          <p:cNvSpPr/>
          <p:nvPr/>
        </p:nvSpPr>
        <p:spPr>
          <a:xfrm>
            <a:off x="5568696" y="2724912"/>
            <a:ext cx="14264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✔ PPT 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제작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24"/>
          <p:cNvSpPr/>
          <p:nvPr/>
        </p:nvSpPr>
        <p:spPr>
          <a:xfrm>
            <a:off x="5568696" y="3127248"/>
            <a:ext cx="14264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✔  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발표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24"/>
          <p:cNvSpPr/>
          <p:nvPr/>
        </p:nvSpPr>
        <p:spPr>
          <a:xfrm>
            <a:off x="7205472" y="1143000"/>
            <a:ext cx="1572768" cy="32461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24"/>
          <p:cNvSpPr/>
          <p:nvPr/>
        </p:nvSpPr>
        <p:spPr>
          <a:xfrm>
            <a:off x="7205472" y="1143000"/>
            <a:ext cx="1572768" cy="118872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24"/>
          <p:cNvSpPr/>
          <p:nvPr/>
        </p:nvSpPr>
        <p:spPr>
          <a:xfrm>
            <a:off x="7671816" y="1298448"/>
            <a:ext cx="640080" cy="640080"/>
          </a:xfrm>
          <a:prstGeom prst="ellipse">
            <a:avLst/>
          </a:prstGeom>
          <a:solidFill>
            <a:srgbClr val="6C5CE7">
              <a:alpha val="20000"/>
            </a:srgbClr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24"/>
          <p:cNvSpPr/>
          <p:nvPr/>
        </p:nvSpPr>
        <p:spPr>
          <a:xfrm>
            <a:off x="7671816" y="1307592"/>
            <a:ext cx="640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24"/>
          <p:cNvSpPr/>
          <p:nvPr/>
        </p:nvSpPr>
        <p:spPr>
          <a:xfrm>
            <a:off x="7251192" y="1993392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 Black"/>
              <a:buNone/>
            </a:pPr>
            <a:r>
              <a:rPr b="1" lang="en-US" sz="1150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임정은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24"/>
          <p:cNvSpPr/>
          <p:nvPr/>
        </p:nvSpPr>
        <p:spPr>
          <a:xfrm>
            <a:off x="7315200" y="2368296"/>
            <a:ext cx="1353312" cy="274320"/>
          </a:xfrm>
          <a:prstGeom prst="rect">
            <a:avLst/>
          </a:prstGeom>
          <a:solidFill>
            <a:srgbClr val="6C5CE7">
              <a:alpha val="18039"/>
            </a:srgbClr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24"/>
          <p:cNvSpPr/>
          <p:nvPr/>
        </p:nvSpPr>
        <p:spPr>
          <a:xfrm>
            <a:off x="7315200" y="2386584"/>
            <a:ext cx="1353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6C5CE7"/>
                </a:solidFill>
                <a:latin typeface="Calibri"/>
                <a:ea typeface="Calibri"/>
                <a:cs typeface="Calibri"/>
                <a:sym typeface="Calibri"/>
              </a:rPr>
              <a:t>AI/Frontend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24"/>
          <p:cNvSpPr/>
          <p:nvPr/>
        </p:nvSpPr>
        <p:spPr>
          <a:xfrm>
            <a:off x="7278624" y="2724912"/>
            <a:ext cx="14264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✔  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모델 학습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24"/>
          <p:cNvSpPr/>
          <p:nvPr/>
        </p:nvSpPr>
        <p:spPr>
          <a:xfrm>
            <a:off x="7278624" y="3127248"/>
            <a:ext cx="14264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✔  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프론트엔드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24"/>
          <p:cNvSpPr/>
          <p:nvPr/>
        </p:nvSpPr>
        <p:spPr>
          <a:xfrm>
            <a:off x="2148824" y="3142010"/>
            <a:ext cx="1426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✔  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데이터셋 구축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24"/>
          <p:cNvSpPr/>
          <p:nvPr/>
        </p:nvSpPr>
        <p:spPr>
          <a:xfrm>
            <a:off x="438899" y="3545133"/>
            <a:ext cx="1426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✔  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학습모델 검증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24"/>
          <p:cNvSpPr/>
          <p:nvPr/>
        </p:nvSpPr>
        <p:spPr>
          <a:xfrm>
            <a:off x="2148825" y="3524458"/>
            <a:ext cx="1426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✔  학습모델 검증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25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25"/>
          <p:cNvSpPr/>
          <p:nvPr/>
        </p:nvSpPr>
        <p:spPr>
          <a:xfrm>
            <a:off x="0" y="5001768"/>
            <a:ext cx="9144000" cy="1371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25"/>
          <p:cNvSpPr/>
          <p:nvPr/>
        </p:nvSpPr>
        <p:spPr>
          <a:xfrm>
            <a:off x="-731520" y="914400"/>
            <a:ext cx="3200400" cy="3200400"/>
          </a:xfrm>
          <a:prstGeom prst="ellipse">
            <a:avLst/>
          </a:prstGeom>
          <a:solidFill>
            <a:srgbClr val="028090">
              <a:alpha val="12156"/>
            </a:srgbClr>
          </a:solidFill>
          <a:ln cap="flat" cmpd="sng" w="12700">
            <a:solidFill>
              <a:srgbClr val="028090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25"/>
          <p:cNvSpPr/>
          <p:nvPr/>
        </p:nvSpPr>
        <p:spPr>
          <a:xfrm>
            <a:off x="6858000" y="1828800"/>
            <a:ext cx="2743200" cy="2743200"/>
          </a:xfrm>
          <a:prstGeom prst="ellipse">
            <a:avLst/>
          </a:prstGeom>
          <a:solidFill>
            <a:srgbClr val="00A896">
              <a:alpha val="10196"/>
            </a:srgbClr>
          </a:solidFill>
          <a:ln cap="flat" cmpd="sng" w="12700">
            <a:solidFill>
              <a:srgbClr val="00A896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25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8000"/>
              <a:buFont typeface="Arial Black"/>
              <a:buNone/>
            </a:pPr>
            <a:r>
              <a:rPr b="1" lang="en-US" sz="8000">
                <a:solidFill>
                  <a:srgbClr val="00A896"/>
                </a:solidFill>
                <a:latin typeface="Arial Black"/>
                <a:ea typeface="Arial Black"/>
                <a:cs typeface="Arial Black"/>
                <a:sym typeface="Arial Black"/>
              </a:rPr>
              <a:t>Q&amp;A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25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1" lang="en-US" sz="3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감사합니다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25"/>
          <p:cNvSpPr/>
          <p:nvPr/>
        </p:nvSpPr>
        <p:spPr>
          <a:xfrm>
            <a:off x="2743200" y="2834640"/>
            <a:ext cx="3657600" cy="5486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25"/>
          <p:cNvSpPr/>
          <p:nvPr/>
        </p:nvSpPr>
        <p:spPr>
          <a:xfrm>
            <a:off x="457200" y="301752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AFC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8AAFC8"/>
                </a:solidFill>
                <a:latin typeface="Calibri"/>
                <a:ea typeface="Calibri"/>
                <a:cs typeface="Calibri"/>
                <a:sym typeface="Calibri"/>
              </a:rPr>
              <a:t>ANTIDOTE</a:t>
            </a:r>
            <a:r>
              <a:rPr lang="en-US" sz="1300">
                <a:solidFill>
                  <a:srgbClr val="8AAFC8"/>
                </a:solidFill>
                <a:latin typeface="Calibri"/>
                <a:ea typeface="Calibri"/>
                <a:cs typeface="Calibri"/>
                <a:sym typeface="Calibri"/>
              </a:rPr>
              <a:t>  |  AI 기반 근로계약서 독소조항 분석 서비스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25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600"/>
              <a:buFont typeface="Georgia"/>
              <a:buNone/>
            </a:pPr>
            <a:r>
              <a:rPr i="1" lang="en-US" sz="1600">
                <a:solidFill>
                  <a:srgbClr val="00A896"/>
                </a:solidFill>
                <a:latin typeface="Georgia"/>
                <a:ea typeface="Georgia"/>
                <a:cs typeface="Georgia"/>
                <a:sym typeface="Georgia"/>
              </a:rPr>
              <a:t>질문이 있으시면 편하게 물어봐 주세요!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